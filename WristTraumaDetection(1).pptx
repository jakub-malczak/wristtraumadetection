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7.xml" ContentType="application/vnd.openxmlformats-officedocument.drawingml.chart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b950da1c494e06" /><Relationship Type="http://schemas.openxmlformats.org/officeDocument/2006/relationships/extended-properties" Target="/docProps/app.xml" Id="Rf26132ae2a8f4e6f" /><Relationship Type="http://schemas.openxmlformats.org/officeDocument/2006/relationships/officeDocument" Target="/ppt/presentation.xml" Id="R1fb0b567e6a048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438f126164425f"/>
  </p:sldMasterIdLst>
  <p:notesMasterIdLst>
    <p:notesMasterId xmlns:r="http://schemas.openxmlformats.org/officeDocument/2006/relationships" r:id="R900da70bd6604c64"/>
  </p:notesMasterIdLst>
  <p:sldIdLst>
    <p:sldId xmlns:r="http://schemas.openxmlformats.org/officeDocument/2006/relationships" id="256" r:id="R4ed25529742e4f17"/>
    <p:sldId xmlns:r="http://schemas.openxmlformats.org/officeDocument/2006/relationships" id="257" r:id="R6136d9ab2fd84eb4"/>
    <p:sldId xmlns:r="http://schemas.openxmlformats.org/officeDocument/2006/relationships" id="258" r:id="Rb31db0b7631942e2"/>
    <p:sldId xmlns:r="http://schemas.openxmlformats.org/officeDocument/2006/relationships" id="259" r:id="R66e643b05ef74ef7"/>
    <p:sldId xmlns:r="http://schemas.openxmlformats.org/officeDocument/2006/relationships" id="260" r:id="Rccf9291dabb04287"/>
    <p:sldId xmlns:r="http://schemas.openxmlformats.org/officeDocument/2006/relationships" id="261" r:id="Racdbcea6b97b44f1"/>
    <p:sldId xmlns:r="http://schemas.openxmlformats.org/officeDocument/2006/relationships" id="262" r:id="R192f28e7f06947c3"/>
    <p:sldId xmlns:r="http://schemas.openxmlformats.org/officeDocument/2006/relationships" id="263" r:id="R4f188207c8cf4a91"/>
    <p:sldId xmlns:r="http://schemas.openxmlformats.org/officeDocument/2006/relationships" id="264" r:id="R12b0800007cb4bb8"/>
    <p:sldId xmlns:r="http://schemas.openxmlformats.org/officeDocument/2006/relationships" id="265" r:id="R1a593523861841ea"/>
    <p:sldId xmlns:r="http://schemas.openxmlformats.org/officeDocument/2006/relationships" id="266" r:id="R7ec013ccf1d949dc"/>
    <p:sldId xmlns:r="http://schemas.openxmlformats.org/officeDocument/2006/relationships" id="267" r:id="Rffdb60b3537347f0"/>
    <p:sldId xmlns:r="http://schemas.openxmlformats.org/officeDocument/2006/relationships" id="268" r:id="R3b0c858af7444100"/>
    <p:sldId xmlns:r="http://schemas.openxmlformats.org/officeDocument/2006/relationships" id="269" r:id="R0d0ea6411f16479d"/>
    <p:sldId xmlns:r="http://schemas.openxmlformats.org/officeDocument/2006/relationships" id="270" r:id="R5eed5c6d72c24cbc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9defa650d841f5" /><Relationship Type="http://schemas.openxmlformats.org/officeDocument/2006/relationships/slideMaster" Target="/ppt/slideMasters/slideMaster1.xml" Id="Rb7438f126164425f" /><Relationship Type="http://schemas.openxmlformats.org/officeDocument/2006/relationships/notesMaster" Target="/ppt/notesMasters/notesMaster1.xml" Id="R900da70bd6604c64" /><Relationship Type="http://schemas.openxmlformats.org/officeDocument/2006/relationships/presProps" Target="/ppt/presProps.xml" Id="Re59895bb216c4a28" /><Relationship Type="http://schemas.openxmlformats.org/officeDocument/2006/relationships/tableStyles" Target="/ppt/tableStyles.xml" Id="Rd07badf5ae644953" /><Relationship Type="http://schemas.openxmlformats.org/officeDocument/2006/relationships/slide" Target="/ppt/slides/slide1.xml" Id="R4ed25529742e4f17" /><Relationship Type="http://schemas.openxmlformats.org/officeDocument/2006/relationships/slide" Target="/ppt/slides/slide2.xml" Id="R6136d9ab2fd84eb4" /><Relationship Type="http://schemas.openxmlformats.org/officeDocument/2006/relationships/slide" Target="/ppt/slides/slide3.xml" Id="Rb31db0b7631942e2" /><Relationship Type="http://schemas.openxmlformats.org/officeDocument/2006/relationships/slide" Target="/ppt/slides/slide4.xml" Id="R66e643b05ef74ef7" /><Relationship Type="http://schemas.openxmlformats.org/officeDocument/2006/relationships/slide" Target="/ppt/slides/slide5.xml" Id="Rccf9291dabb04287" /><Relationship Type="http://schemas.openxmlformats.org/officeDocument/2006/relationships/slide" Target="/ppt/slides/slide6.xml" Id="Racdbcea6b97b44f1" /><Relationship Type="http://schemas.openxmlformats.org/officeDocument/2006/relationships/slide" Target="/ppt/slides/slide7.xml" Id="R192f28e7f06947c3" /><Relationship Type="http://schemas.openxmlformats.org/officeDocument/2006/relationships/slide" Target="/ppt/slides/slide8.xml" Id="R4f188207c8cf4a91" /><Relationship Type="http://schemas.openxmlformats.org/officeDocument/2006/relationships/slide" Target="/ppt/slides/slide9.xml" Id="R12b0800007cb4bb8" /><Relationship Type="http://schemas.openxmlformats.org/officeDocument/2006/relationships/slide" Target="/ppt/slides/slide10.xml" Id="R1a593523861841ea" /><Relationship Type="http://schemas.openxmlformats.org/officeDocument/2006/relationships/slide" Target="/ppt/slides/slide11.xml" Id="R7ec013ccf1d949dc" /><Relationship Type="http://schemas.openxmlformats.org/officeDocument/2006/relationships/slide" Target="/ppt/slides/slide12.xml" Id="Rffdb60b3537347f0" /><Relationship Type="http://schemas.openxmlformats.org/officeDocument/2006/relationships/slide" Target="/ppt/slides/slide13.xml" Id="R3b0c858af7444100" /><Relationship Type="http://schemas.openxmlformats.org/officeDocument/2006/relationships/slide" Target="/ppt/slides/slide14.xml" Id="R0d0ea6411f16479d" /><Relationship Type="http://schemas.openxmlformats.org/officeDocument/2006/relationships/slide" Target="/ppt/slides/slide15.xml" Id="R5eed5c6d72c24c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a854985302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ff05fadb36402c" /><Relationship Type="http://schemas.openxmlformats.org/officeDocument/2006/relationships/notesMaster" Target="/ppt/notesMasters/notesMaster1.xml" Id="R690cf32818ca44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8b19eb34bc416d" /><Relationship Type="http://schemas.openxmlformats.org/officeDocument/2006/relationships/notesMaster" Target="/ppt/notesMasters/notesMaster1.xml" Id="Rdf2f88aa8d2f45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6a4b087e6b4936" /><Relationship Type="http://schemas.openxmlformats.org/officeDocument/2006/relationships/notesMaster" Target="/ppt/notesMasters/notesMaster1.xml" Id="R1068896c5a594f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087270b2b34c86" /><Relationship Type="http://schemas.openxmlformats.org/officeDocument/2006/relationships/notesMaster" Target="/ppt/notesMasters/notesMaster1.xml" Id="Ra583d9a6e06647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e0960c4e574098" /><Relationship Type="http://schemas.openxmlformats.org/officeDocument/2006/relationships/notesMaster" Target="/ppt/notesMasters/notesMaster1.xml" Id="R6d072e7fab9c42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c9a1a8162b4ef0" /><Relationship Type="http://schemas.openxmlformats.org/officeDocument/2006/relationships/notesMaster" Target="/ppt/notesMasters/notesMaster1.xml" Id="R30d4d3d9ac5f43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3492b0e2594f27" /><Relationship Type="http://schemas.openxmlformats.org/officeDocument/2006/relationships/notesMaster" Target="/ppt/notesMasters/notesMaster1.xml" Id="R8451cbd650c241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e81e9360d6460a" /><Relationship Type="http://schemas.openxmlformats.org/officeDocument/2006/relationships/notesMaster" Target="/ppt/notesMasters/notesMaster1.xml" Id="R6122b0400ec746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1b33a7414b48ef" /><Relationship Type="http://schemas.openxmlformats.org/officeDocument/2006/relationships/notesMaster" Target="/ppt/notesMasters/notesMaster1.xml" Id="R33073d77a3f44c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95ef13b3dc44f2" /><Relationship Type="http://schemas.openxmlformats.org/officeDocument/2006/relationships/notesMaster" Target="/ppt/notesMasters/notesMaster1.xml" Id="R0ada755eaaa342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669e0cd2324c82" /><Relationship Type="http://schemas.openxmlformats.org/officeDocument/2006/relationships/notesMaster" Target="/ppt/notesMasters/notesMaster1.xml" Id="Rd6dc5bd048d740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7f9307abc44f04" /><Relationship Type="http://schemas.openxmlformats.org/officeDocument/2006/relationships/notesMaster" Target="/ppt/notesMasters/notesMaster1.xml" Id="Ra439581da5f74d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5a083a1d8c4825" /><Relationship Type="http://schemas.openxmlformats.org/officeDocument/2006/relationships/notesMaster" Target="/ppt/notesMasters/notesMaster1.xml" Id="R33cec2616ac84c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9ffcee4fcc4b14" /><Relationship Type="http://schemas.openxmlformats.org/officeDocument/2006/relationships/notesMaster" Target="/ppt/notesMasters/notesMaster1.xml" Id="Rd1060ac8166748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c0eec4c90a49e6" /><Relationship Type="http://schemas.openxmlformats.org/officeDocument/2006/relationships/notesMaster" Target="/ppt/notesMasters/notesMaster1.xml" Id="R84b613cf97344e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ff6747c7d4f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148eb5a8547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2951dcc694b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af5177e4b49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f33ceb9ee4a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3a1191152495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873a0435b46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a6975fe9a40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7ecc75c8fd45a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263ac23cd4460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A767B58E-8418-4660-ABF6-C5272986D7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387B9257-B605-4A80-A966-C609E6F08C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5273DB3-DA13-4409-82A2-16C2009018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744BBF3D-AC1C-4A1E-93E4-4504E31F0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571A336A-44C7-45FD-BEEA-455E91DB7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1053CF0-D2D6-4B28-8E1B-5A98A71B3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DA8703DE-3FF7-4031-B87D-BCC5FD86BF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C7F53BA4-35FC-4662-88DE-F80A727D4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E8337179-E809-4BA8-81E4-04FCE187E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B2DE4E62-F5A1-494E-96E4-6AAEC577C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B4559492-7A01-40A6-AB98-9BE8C8733D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37F955B3-534C-4717-9735-44101CD97F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6F54ACD0-E56B-45D8-95BE-EB3FC0693D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A6BB55C7-693D-4675-AFCC-CFA0D7668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E47DB6B0-31B1-4A6A-B7AA-171171764A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975219C-BCFF-4BD2-A255-62ABBA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E3AB8698-D090-403B-8740-3F05FC933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09619E34-6BF5-4A6C-85CF-731F6E5645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7AF0138C-DF61-42BC-B2B4-2A75D8276C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96C703A8-3B6A-442F-9603-B557BE40CD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182F3163-8626-4ABC-AEDF-2014818318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D42BA6B8-920E-48FC-A1BB-34F03A01FD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D34F86F5-45E9-417A-A1DD-3181C8FD939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698515DD-0DCD-4D1D-A94D-65927D85D3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2D7B04E7-DFAA-4D3D-9275-A7581568A7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65BC8BFC-6838-4B2C-B4F5-EEDCD40028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5386ff41d04dfd" /><Relationship Type="http://schemas.openxmlformats.org/officeDocument/2006/relationships/slideLayout" Target="/ppt/slideLayouts/slideLayout1.xml" Id="R4931f28abf004dca" /><Relationship Type="http://schemas.openxmlformats.org/officeDocument/2006/relationships/slideLayout" Target="/ppt/slideLayouts/slideLayout2.xml" Id="Rd5af9a74ad6c491b" /><Relationship Type="http://schemas.openxmlformats.org/officeDocument/2006/relationships/slideLayout" Target="/ppt/slideLayouts/slideLayout3.xml" Id="R4bb27cc1354942cc" /><Relationship Type="http://schemas.openxmlformats.org/officeDocument/2006/relationships/slideLayout" Target="/ppt/slideLayouts/slideLayout4.xml" Id="Rc6c2aae2c7304707" /><Relationship Type="http://schemas.openxmlformats.org/officeDocument/2006/relationships/slideLayout" Target="/ppt/slideLayouts/slideLayout5.xml" Id="Rf7f57029f7e64133" /><Relationship Type="http://schemas.openxmlformats.org/officeDocument/2006/relationships/slideLayout" Target="/ppt/slideLayouts/slideLayout6.xml" Id="R5a94738247934019" /><Relationship Type="http://schemas.openxmlformats.org/officeDocument/2006/relationships/slideLayout" Target="/ppt/slideLayouts/slideLayout7.xml" Id="Rdc618cdcdcba47f8" /><Relationship Type="http://schemas.openxmlformats.org/officeDocument/2006/relationships/slideLayout" Target="/ppt/slideLayouts/slideLayout8.xml" Id="Rded3bd04e7064fcc" /><Relationship Type="http://schemas.openxmlformats.org/officeDocument/2006/relationships/slideLayout" Target="/ppt/slideLayouts/slideLayout9.xml" Id="R03421ba9cf314b8b" /><Relationship Type="http://schemas.openxmlformats.org/officeDocument/2006/relationships/slideLayout" Target="/ppt/slideLayouts/slideLayout10.xml" Id="Rd36149b3be2f453f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B1617FA6-BA82-4442-8370-A3DBA8147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74287342-7CC6-4B81-AEA6-7B1B4767BB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E7156C7-3AC0-4615-B802-A3B72FF780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31f28abf004dca"/>
    <p:sldLayoutId xmlns:r="http://schemas.openxmlformats.org/officeDocument/2006/relationships" id="2147483650" r:id="Rd5af9a74ad6c491b"/>
    <p:sldLayoutId xmlns:r="http://schemas.openxmlformats.org/officeDocument/2006/relationships" id="2147483651" r:id="R4bb27cc1354942cc"/>
    <p:sldLayoutId xmlns:r="http://schemas.openxmlformats.org/officeDocument/2006/relationships" id="2147483652" r:id="Rc6c2aae2c7304707"/>
    <p:sldLayoutId xmlns:r="http://schemas.openxmlformats.org/officeDocument/2006/relationships" id="2147483653" r:id="Rf7f57029f7e64133"/>
    <p:sldLayoutId xmlns:r="http://schemas.openxmlformats.org/officeDocument/2006/relationships" id="2147483654" r:id="R5a94738247934019"/>
    <p:sldLayoutId xmlns:r="http://schemas.openxmlformats.org/officeDocument/2006/relationships" id="2147483655" r:id="Rdc618cdcdcba47f8"/>
    <p:sldLayoutId xmlns:r="http://schemas.openxmlformats.org/officeDocument/2006/relationships" id="2147483656" r:id="Rded3bd04e7064fcc"/>
    <p:sldLayoutId xmlns:r="http://schemas.openxmlformats.org/officeDocument/2006/relationships" id="2147483657" r:id="R03421ba9cf314b8b"/>
    <p:sldLayoutId xmlns:r="http://schemas.openxmlformats.org/officeDocument/2006/relationships" id="2147483658" r:id="Rd36149b3be2f453f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25fd34c0c42f7" /><Relationship Type="http://schemas.openxmlformats.org/officeDocument/2006/relationships/notesSlide" Target="/ppt/notesSlides/notesSlide1.xml" Id="R045a5836bfa742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2f342ebd034d7d" /><Relationship Type="http://schemas.openxmlformats.org/officeDocument/2006/relationships/image" Target="/ppt/media/image.png" Id="R3e6602e0945746d9" /><Relationship Type="http://schemas.openxmlformats.org/officeDocument/2006/relationships/image" Target="/ppt/media/image2.png" Id="R0230e78563cb4a08" /><Relationship Type="http://schemas.openxmlformats.org/officeDocument/2006/relationships/image" Target="/ppt/media/image3.png" Id="R4687c04aa8bf4763" /><Relationship Type="http://schemas.openxmlformats.org/officeDocument/2006/relationships/image" Target="/ppt/media/image4.png" Id="Rc18445973aea42c0" /><Relationship Type="http://schemas.openxmlformats.org/officeDocument/2006/relationships/notesSlide" Target="/ppt/notesSlides/notesSlide2.xml" Id="Ra43c0c6628a84f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b00678a10541aa" /><Relationship Type="http://schemas.openxmlformats.org/officeDocument/2006/relationships/image" Target="/ppt/media/image5.png" Id="Rb3fc53bdf7824d06" /><Relationship Type="http://schemas.openxmlformats.org/officeDocument/2006/relationships/notesSlide" Target="/ppt/notesSlides/notesSlide3.xml" Id="Rbda8f84af64f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2da2937fbf4552" /><Relationship Type="http://schemas.openxmlformats.org/officeDocument/2006/relationships/image" Target="/ppt/media/image6.png" Id="R099a183d8f4948e0" /><Relationship Type="http://schemas.openxmlformats.org/officeDocument/2006/relationships/image" Target="/ppt/media/image7.png" Id="Rb72aec2749bf4e1b" /><Relationship Type="http://schemas.openxmlformats.org/officeDocument/2006/relationships/image" Target="/ppt/media/image8.png" Id="R79c63de9c48b49a3" /><Relationship Type="http://schemas.openxmlformats.org/officeDocument/2006/relationships/image" Target="/ppt/media/image9.png" Id="R61feae7feb11490c" /><Relationship Type="http://schemas.openxmlformats.org/officeDocument/2006/relationships/notesSlide" Target="/ppt/notesSlides/notesSlide4.xml" Id="R1590cc12fd5843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4712e85c2546e4" /><Relationship Type="http://schemas.openxmlformats.org/officeDocument/2006/relationships/notesSlide" Target="/ppt/notesSlides/notesSlide5.xml" Id="Ra11c72ba01d54b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4114f8bdf249f1" /><Relationship Type="http://schemas.openxmlformats.org/officeDocument/2006/relationships/image" Target="/ppt/media/image10.png" Id="R2399bd6649da4cee" /><Relationship Type="http://schemas.openxmlformats.org/officeDocument/2006/relationships/notesSlide" Target="/ppt/notesSlides/notesSlide6.xml" Id="R862e2f8515434b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8d94dd91ee46dd" /><Relationship Type="http://schemas.openxmlformats.org/officeDocument/2006/relationships/image" Target="/ppt/media/image11.png" Id="Rfba11c5e1e5d4207" /><Relationship Type="http://schemas.openxmlformats.org/officeDocument/2006/relationships/image" Target="/ppt/media/image12.png" Id="Raabe4c32011b4515" /><Relationship Type="http://schemas.openxmlformats.org/officeDocument/2006/relationships/notesSlide" Target="/ppt/notesSlides/notesSlide7.xml" Id="R2edb9c0f216a40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955c007dd42d1" /><Relationship Type="http://schemas.openxmlformats.org/officeDocument/2006/relationships/chart" Target="/ppt/slides/charts/chart1.xml" Id="Rf9c75a8c12594600" /><Relationship Type="http://schemas.openxmlformats.org/officeDocument/2006/relationships/notesSlide" Target="/ppt/notesSlides/notesSlide8.xml" Id="Rcc06b1d8845348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46cf8d65b4ba7" /><Relationship Type="http://schemas.openxmlformats.org/officeDocument/2006/relationships/notesSlide" Target="/ppt/notesSlides/notesSlide9.xml" Id="R2d4f32609a6049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376011f204d46" /><Relationship Type="http://schemas.openxmlformats.org/officeDocument/2006/relationships/chart" Target="/ppt/slides/charts/chart2.xml" Id="R896df726bc4c4ca5" /><Relationship Type="http://schemas.openxmlformats.org/officeDocument/2006/relationships/notesSlide" Target="/ppt/notesSlides/notesSlide10.xml" Id="Rc28fd8957b2145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f06902aef4192" /><Relationship Type="http://schemas.openxmlformats.org/officeDocument/2006/relationships/chart" Target="/ppt/slides/charts/chart3.xml" Id="R4af4dc4bfab74d7c" /><Relationship Type="http://schemas.openxmlformats.org/officeDocument/2006/relationships/notesSlide" Target="/ppt/notesSlides/notesSlide11.xml" Id="R2240b38d51fa4d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904ff6374470f" /><Relationship Type="http://schemas.openxmlformats.org/officeDocument/2006/relationships/chart" Target="/ppt/slides/charts/chart4.xml" Id="R1e51113d0ba84b4f" /><Relationship Type="http://schemas.openxmlformats.org/officeDocument/2006/relationships/notesSlide" Target="/ppt/notesSlides/notesSlide12.xml" Id="R5ffa1b53a50946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86a44449545b2" /><Relationship Type="http://schemas.openxmlformats.org/officeDocument/2006/relationships/chart" Target="/ppt/slides/charts/chart5.xml" Id="R4fa40eab2cd040be" /><Relationship Type="http://schemas.openxmlformats.org/officeDocument/2006/relationships/notesSlide" Target="/ppt/notesSlides/notesSlide13.xml" Id="R493953daf48241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89e7ed08848f5" /><Relationship Type="http://schemas.openxmlformats.org/officeDocument/2006/relationships/chart" Target="/ppt/slides/charts/chart6.xml" Id="R86c90ab660e14f92" /><Relationship Type="http://schemas.openxmlformats.org/officeDocument/2006/relationships/notesSlide" Target="/ppt/notesSlides/notesSlide14.xml" Id="R963c317c349541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51c444cc64396" /><Relationship Type="http://schemas.openxmlformats.org/officeDocument/2006/relationships/chart" Target="/ppt/slides/charts/chart7.xml" Id="R824aecaebd534309" /><Relationship Type="http://schemas.openxmlformats.org/officeDocument/2006/relationships/notesSlide" Target="/ppt/notesSlides/notesSlide15.xml" Id="R24330c084cf04fa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Best mAP50-95</c:v>
          </c:tx>
          <c:spPr>
            <a:solidFill xmlns:a="http://schemas.openxmlformats.org/drawingml/2006/main">
              <a:srgbClr val="4285F4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yolo26l default</c:v>
              </c:pt>
              <c:pt idx="1">
                <c:v>yolo11n default</c:v>
              </c:pt>
              <c:pt idx="2">
                <c:v>yolo26n default</c:v>
              </c:pt>
              <c:pt idx="3">
                <c:v>yolo26n p2</c:v>
              </c:pt>
              <c:pt idx="4">
                <c:v>yolo26n p2 cbam</c:v>
              </c:pt>
              <c:pt idx="5">
                <c:v>yolo26l p2 cbam 2</c:v>
              </c:pt>
              <c:pt idx="6">
                <c:v>yolo26n cbam</c:v>
              </c:pt>
            </c:strLit>
          </c:cat>
          <c:val>
            <c:numLit>
              <c:formatCode>General</c:formatCode>
              <c:ptCount val="7"/>
              <c:pt idx="0">
                <c:v>0.31787</c:v>
              </c:pt>
              <c:pt idx="1">
                <c:v>0.29545</c:v>
              </c:pt>
              <c:pt idx="2">
                <c:v>0.27748</c:v>
              </c:pt>
              <c:pt idx="3">
                <c:v>0.27645</c:v>
              </c:pt>
              <c:pt idx="4">
                <c:v>0.26645</c:v>
              </c:pt>
              <c:pt idx="5">
                <c:v>0.2473</c:v>
              </c:pt>
              <c:pt idx="6">
                <c:v>0.24141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EB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Precision</c:v>
          </c:tx>
          <c:spPr>
            <a:solidFill xmlns:a="http://schemas.openxmlformats.org/drawingml/2006/main">
              <a:srgbClr val="4285F4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yolo26l default</c:v>
              </c:pt>
              <c:pt idx="1">
                <c:v>yolo11n default</c:v>
              </c:pt>
              <c:pt idx="2">
                <c:v>yolo26n default</c:v>
              </c:pt>
              <c:pt idx="3">
                <c:v>yolo26n p2</c:v>
              </c:pt>
              <c:pt idx="4">
                <c:v>yolo26n p2 cbam</c:v>
              </c:pt>
              <c:pt idx="5">
                <c:v>yolo26l p2 cbam 2</c:v>
              </c:pt>
              <c:pt idx="6">
                <c:v>yolo26n cbam</c:v>
              </c:pt>
            </c:strLit>
          </c:cat>
          <c:val>
            <c:numLit>
              <c:formatCode>General</c:formatCode>
              <c:ptCount val="7"/>
              <c:pt idx="0">
                <c:v>0.77178</c:v>
              </c:pt>
              <c:pt idx="1">
                <c:v>0.71152</c:v>
              </c:pt>
              <c:pt idx="2">
                <c:v>0.76304</c:v>
              </c:pt>
              <c:pt idx="3">
                <c:v>0.69938</c:v>
              </c:pt>
              <c:pt idx="4">
                <c:v>0.763</c:v>
              </c:pt>
              <c:pt idx="5">
                <c:v>0.6265</c:v>
              </c:pt>
              <c:pt idx="6">
                <c:v>0.71584</c:v>
              </c:pt>
            </c:numLit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F9AB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yolo26l default</c:v>
              </c:pt>
              <c:pt idx="1">
                <c:v>yolo11n default</c:v>
              </c:pt>
              <c:pt idx="2">
                <c:v>yolo26n default</c:v>
              </c:pt>
              <c:pt idx="3">
                <c:v>yolo26n p2</c:v>
              </c:pt>
              <c:pt idx="4">
                <c:v>yolo26n p2 cbam</c:v>
              </c:pt>
              <c:pt idx="5">
                <c:v>yolo26l p2 cbam 2</c:v>
              </c:pt>
              <c:pt idx="6">
                <c:v>yolo26n cbam</c:v>
              </c:pt>
            </c:strLit>
          </c:cat>
          <c:val>
            <c:numLit>
              <c:formatCode>General</c:formatCode>
              <c:ptCount val="7"/>
              <c:pt idx="0">
                <c:v>0.41864</c:v>
              </c:pt>
              <c:pt idx="1">
                <c:v>0.47045</c:v>
              </c:pt>
              <c:pt idx="2">
                <c:v>0.43731</c:v>
              </c:pt>
              <c:pt idx="3">
                <c:v>0.40972</c:v>
              </c:pt>
              <c:pt idx="4">
                <c:v>0.42916</c:v>
              </c:pt>
              <c:pt idx="5">
                <c:v>0.40694</c:v>
              </c:pt>
              <c:pt idx="6">
                <c:v>0.42199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EB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333333"/>
              </a:solidFill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mAP50</c:v>
          </c:tx>
          <c:spPr>
            <a:solidFill xmlns:a="http://schemas.openxmlformats.org/drawingml/2006/main">
              <a:srgbClr val="34A853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yolo26l default</c:v>
              </c:pt>
              <c:pt idx="1">
                <c:v>yolo11n default</c:v>
              </c:pt>
              <c:pt idx="2">
                <c:v>yolo26n default</c:v>
              </c:pt>
              <c:pt idx="3">
                <c:v>yolo26n p2</c:v>
              </c:pt>
              <c:pt idx="4">
                <c:v>yolo26n p2 cbam</c:v>
              </c:pt>
              <c:pt idx="5">
                <c:v>yolo26l p2 cbam 2</c:v>
              </c:pt>
              <c:pt idx="6">
                <c:v>yolo26n cbam</c:v>
              </c:pt>
            </c:strLit>
          </c:cat>
          <c:val>
            <c:numLit>
              <c:formatCode>General</c:formatCode>
              <c:ptCount val="7"/>
              <c:pt idx="0">
                <c:v>0.52411</c:v>
              </c:pt>
              <c:pt idx="1">
                <c:v>0.48011</c:v>
              </c:pt>
              <c:pt idx="2">
                <c:v>0.47258</c:v>
              </c:pt>
              <c:pt idx="3">
                <c:v>0.4941</c:v>
              </c:pt>
              <c:pt idx="4">
                <c:v>0.44539</c:v>
              </c:pt>
              <c:pt idx="5">
                <c:v>0.42546</c:v>
              </c:pt>
              <c:pt idx="6">
                <c:v>0.42093</c:v>
              </c:pt>
            </c:numLit>
          </c:val>
        </c:ser>
        <c:ser>
          <c:idx val="1"/>
          <c:order val="1"/>
          <c:tx>
            <c:v>mAP50-95</c:v>
          </c:tx>
          <c:spPr>
            <a:solidFill xmlns:a="http://schemas.openxmlformats.org/drawingml/2006/main">
              <a:srgbClr val="4285F4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yolo26l default</c:v>
              </c:pt>
              <c:pt idx="1">
                <c:v>yolo11n default</c:v>
              </c:pt>
              <c:pt idx="2">
                <c:v>yolo26n default</c:v>
              </c:pt>
              <c:pt idx="3">
                <c:v>yolo26n p2</c:v>
              </c:pt>
              <c:pt idx="4">
                <c:v>yolo26n p2 cbam</c:v>
              </c:pt>
              <c:pt idx="5">
                <c:v>yolo26l p2 cbam 2</c:v>
              </c:pt>
              <c:pt idx="6">
                <c:v>yolo26n cbam</c:v>
              </c:pt>
            </c:strLit>
          </c:cat>
          <c:val>
            <c:numLit>
              <c:formatCode>General</c:formatCode>
              <c:ptCount val="7"/>
              <c:pt idx="0">
                <c:v>0.31787</c:v>
              </c:pt>
              <c:pt idx="1">
                <c:v>0.29545</c:v>
              </c:pt>
              <c:pt idx="2">
                <c:v>0.27748</c:v>
              </c:pt>
              <c:pt idx="3">
                <c:v>0.27645</c:v>
              </c:pt>
              <c:pt idx="4">
                <c:v>0.26645</c:v>
              </c:pt>
              <c:pt idx="5">
                <c:v>0.2473</c:v>
              </c:pt>
              <c:pt idx="6">
                <c:v>0.24141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EB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333333"/>
              </a:solidFill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Val box loss</c:v>
          </c:tx>
          <c:spPr>
            <a:solidFill xmlns:a="http://schemas.openxmlformats.org/drawingml/2006/main">
              <a:srgbClr val="4285F4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yolo11n default</c:v>
              </c:pt>
              <c:pt idx="1">
                <c:v>yolo26l default</c:v>
              </c:pt>
              <c:pt idx="2">
                <c:v>yolo26n p2</c:v>
              </c:pt>
              <c:pt idx="3">
                <c:v>yolo26n default</c:v>
              </c:pt>
              <c:pt idx="4">
                <c:v>yolo26n p2 cbam</c:v>
              </c:pt>
              <c:pt idx="5">
                <c:v>yolo26l p2 cbam 2</c:v>
              </c:pt>
              <c:pt idx="6">
                <c:v>yolo26n cbam</c:v>
              </c:pt>
            </c:strLit>
          </c:cat>
          <c:val>
            <c:numLit>
              <c:formatCode>General</c:formatCode>
              <c:ptCount val="7"/>
              <c:pt idx="0">
                <c:v>1.42995</c:v>
              </c:pt>
              <c:pt idx="1">
                <c:v>1.50077</c:v>
              </c:pt>
              <c:pt idx="2">
                <c:v>1.48928</c:v>
              </c:pt>
              <c:pt idx="3">
                <c:v>1.484</c:v>
              </c:pt>
              <c:pt idx="4">
                <c:v>1.48772</c:v>
              </c:pt>
              <c:pt idx="5">
                <c:v>1.52232</c:v>
              </c:pt>
              <c:pt idx="6">
                <c:v>1.57747</c:v>
              </c:pt>
            </c:numLit>
          </c:val>
        </c:ser>
        <c:ser>
          <c:idx val="1"/>
          <c:order val="1"/>
          <c:tx>
            <c:v>Val cls loss</c:v>
          </c:tx>
          <c:spPr>
            <a:solidFill xmlns:a="http://schemas.openxmlformats.org/drawingml/2006/main">
              <a:srgbClr val="EA43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yolo11n default</c:v>
              </c:pt>
              <c:pt idx="1">
                <c:v>yolo26l default</c:v>
              </c:pt>
              <c:pt idx="2">
                <c:v>yolo26n p2</c:v>
              </c:pt>
              <c:pt idx="3">
                <c:v>yolo26n default</c:v>
              </c:pt>
              <c:pt idx="4">
                <c:v>yolo26n p2 cbam</c:v>
              </c:pt>
              <c:pt idx="5">
                <c:v>yolo26l p2 cbam 2</c:v>
              </c:pt>
              <c:pt idx="6">
                <c:v>yolo26n cbam</c:v>
              </c:pt>
            </c:strLit>
          </c:cat>
          <c:val>
            <c:numLit>
              <c:formatCode>General</c:formatCode>
              <c:ptCount val="7"/>
              <c:pt idx="0">
                <c:v>0.82364</c:v>
              </c:pt>
              <c:pt idx="1">
                <c:v>0.835</c:v>
              </c:pt>
              <c:pt idx="2">
                <c:v>0.8557</c:v>
              </c:pt>
              <c:pt idx="3">
                <c:v>0.86349</c:v>
              </c:pt>
              <c:pt idx="4">
                <c:v>0.87067</c:v>
              </c:pt>
              <c:pt idx="5">
                <c:v>0.91867</c:v>
              </c:pt>
              <c:pt idx="6">
                <c:v>1.00068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EB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333333"/>
              </a:solidFill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yolo26l default</c:v>
          </c:tx>
          <c:spPr>
            <a:ln xmlns:a="http://schemas.openxmlformats.org/drawingml/2006/main" w="19050">
              <a:solidFill>
                <a:srgbClr val="34A853"/>
              </a:solidFill>
              <a:prstDash val="solid"/>
            </a:ln>
          </c:spPr>
          <c:marker>
            <c:symbol val="circle"/>
            <c:size val="4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1"/>
              <c:pt idx="0">
                <c:v>1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</c:numLit>
          </c:cat>
          <c:val>
            <c:numLit>
              <c:formatCode>0%</c:formatCode>
              <c:ptCount val="11"/>
              <c:pt idx="0">
                <c:v>0.16492</c:v>
              </c:pt>
              <c:pt idx="1">
                <c:v>0.18826</c:v>
              </c:pt>
              <c:pt idx="2">
                <c:v>0.24786</c:v>
              </c:pt>
              <c:pt idx="3">
                <c:v>0.28163</c:v>
              </c:pt>
              <c:pt idx="4">
                <c:v>0.28841</c:v>
              </c:pt>
              <c:pt idx="5">
                <c:v>0.2957</c:v>
              </c:pt>
              <c:pt idx="6">
                <c:v>0.30671</c:v>
              </c:pt>
              <c:pt idx="7">
                <c:v>0.28776</c:v>
              </c:pt>
              <c:pt idx="8">
                <c:v>0.29215</c:v>
              </c:pt>
              <c:pt idx="9">
                <c:v>0.29071</c:v>
              </c:pt>
              <c:pt idx="10">
                <c:v>0.28831</c:v>
              </c:pt>
            </c:numLit>
          </c:val>
          <c:smooth val="0"/>
        </c:ser>
        <c:ser>
          <c:idx val="1"/>
          <c:order val="1"/>
          <c:tx>
            <c:v>yolo11n default</c:v>
          </c:tx>
          <c:spPr>
            <a:ln xmlns:a="http://schemas.openxmlformats.org/drawingml/2006/main" w="19050">
              <a:solidFill>
                <a:srgbClr val="4285F4"/>
              </a:solidFill>
              <a:prstDash val="solid"/>
            </a:ln>
          </c:spPr>
          <c:marker>
            <c:symbol val="circle"/>
            <c:size val="4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1"/>
              <c:pt idx="0">
                <c:v>1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</c:numLit>
          </c:cat>
          <c:val>
            <c:numLit>
              <c:formatCode>0%</c:formatCode>
              <c:ptCount val="11"/>
              <c:pt idx="0">
                <c:v>0.11276</c:v>
              </c:pt>
              <c:pt idx="1">
                <c:v>0.17859</c:v>
              </c:pt>
              <c:pt idx="2">
                <c:v>0.22692</c:v>
              </c:pt>
              <c:pt idx="3">
                <c:v>0.25117</c:v>
              </c:pt>
              <c:pt idx="4">
                <c:v>0.27376</c:v>
              </c:pt>
              <c:pt idx="5">
                <c:v>0.28344</c:v>
              </c:pt>
              <c:pt idx="6">
                <c:v>0.28502</c:v>
              </c:pt>
              <c:pt idx="7">
                <c:v>0.2941</c:v>
              </c:pt>
              <c:pt idx="8">
                <c:v>0.29326</c:v>
              </c:pt>
              <c:pt idx="9">
                <c:v>0.29345</c:v>
              </c:pt>
              <c:pt idx="10">
                <c:v>0.28787</c:v>
              </c:pt>
            </c:numLit>
          </c:val>
          <c:smooth val="0"/>
        </c:ser>
        <c:ser>
          <c:idx val="2"/>
          <c:order val="2"/>
          <c:tx>
            <c:v>yolo26n default</c:v>
          </c:tx>
          <c:spPr>
            <a:ln xmlns:a="http://schemas.openxmlformats.org/drawingml/2006/main" w="19050">
              <a:solidFill>
                <a:srgbClr val="F9AB00"/>
              </a:solidFill>
              <a:prstDash val="solid"/>
            </a:ln>
          </c:spPr>
          <c:marker>
            <c:symbol val="circle"/>
            <c:size val="4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1"/>
              <c:pt idx="0">
                <c:v>1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</c:numLit>
          </c:cat>
          <c:val>
            <c:numLit>
              <c:formatCode>0%</c:formatCode>
              <c:ptCount val="11"/>
              <c:pt idx="0">
                <c:v>0.08623</c:v>
              </c:pt>
              <c:pt idx="1">
                <c:v>0.16426</c:v>
              </c:pt>
              <c:pt idx="2">
                <c:v>0.19415</c:v>
              </c:pt>
              <c:pt idx="3">
                <c:v>0.23445</c:v>
              </c:pt>
              <c:pt idx="4">
                <c:v>0.25061</c:v>
              </c:pt>
              <c:pt idx="5">
                <c:v>0.26886</c:v>
              </c:pt>
              <c:pt idx="6">
                <c:v>0.27112</c:v>
              </c:pt>
              <c:pt idx="7">
                <c:v>0.27445</c:v>
              </c:pt>
              <c:pt idx="8">
                <c:v>0.2702</c:v>
              </c:pt>
              <c:pt idx="9">
                <c:v>0.26721</c:v>
              </c:pt>
              <c:pt idx="10">
                <c:v>0.26554</c:v>
              </c:pt>
            </c:numLit>
          </c:val>
          <c:smooth val="0"/>
        </c:ser>
        <c:ser>
          <c:idx val="3"/>
          <c:order val="3"/>
          <c:tx>
            <c:v>yolo26n p2</c:v>
          </c:tx>
          <c:spPr>
            <a:ln xmlns:a="http://schemas.openxmlformats.org/drawingml/2006/main" w="19050">
              <a:solidFill>
                <a:srgbClr val="EA4335"/>
              </a:solidFill>
              <a:prstDash val="solid"/>
            </a:ln>
          </c:spPr>
          <c:marker>
            <c:symbol val="circle"/>
            <c:size val="4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1"/>
              <c:pt idx="0">
                <c:v>1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</c:numLit>
          </c:cat>
          <c:val>
            <c:numLit>
              <c:formatCode>0%</c:formatCode>
              <c:ptCount val="11"/>
              <c:pt idx="0">
                <c:v>0.02951</c:v>
              </c:pt>
              <c:pt idx="1">
                <c:v>0.13472</c:v>
              </c:pt>
              <c:pt idx="2">
                <c:v>0.18824</c:v>
              </c:pt>
              <c:pt idx="3">
                <c:v>0.21461</c:v>
              </c:pt>
              <c:pt idx="4">
                <c:v>0.24637</c:v>
              </c:pt>
              <c:pt idx="5">
                <c:v>0.25376</c:v>
              </c:pt>
              <c:pt idx="6">
                <c:v>0.27401</c:v>
              </c:pt>
              <c:pt idx="7">
                <c:v>0.26689</c:v>
              </c:pt>
              <c:pt idx="8">
                <c:v>0.26397</c:v>
              </c:pt>
              <c:pt idx="9">
                <c:v>0.26051</c:v>
              </c:pt>
              <c:pt idx="10">
                <c:v>0.25921</c:v>
              </c:pt>
            </c:numLit>
          </c:val>
          <c:smooth val="0"/>
        </c:ser>
        <c:ser>
          <c:idx val="4"/>
          <c:order val="4"/>
          <c:tx>
            <c:v>yolo26n p2 cbam</c:v>
          </c:tx>
          <c:spPr>
            <a:ln xmlns:a="http://schemas.openxmlformats.org/drawingml/2006/main" w="19050">
              <a:solidFill>
                <a:srgbClr val="7E57C2"/>
              </a:solidFill>
              <a:prstDash val="solid"/>
            </a:ln>
          </c:spPr>
          <c:marker>
            <c:symbol val="circle"/>
            <c:size val="4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1"/>
              <c:pt idx="0">
                <c:v>1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</c:numLit>
          </c:cat>
          <c:val>
            <c:numLit>
              <c:formatCode>0%</c:formatCode>
              <c:ptCount val="11"/>
              <c:pt idx="0">
                <c:v>0.03788</c:v>
              </c:pt>
              <c:pt idx="1">
                <c:v>0.12925</c:v>
              </c:pt>
              <c:pt idx="2">
                <c:v>0.16962</c:v>
              </c:pt>
              <c:pt idx="3">
                <c:v>0.20532</c:v>
              </c:pt>
              <c:pt idx="4">
                <c:v>0.22829</c:v>
              </c:pt>
              <c:pt idx="5">
                <c:v>0.24452</c:v>
              </c:pt>
              <c:pt idx="6">
                <c:v>0.26266</c:v>
              </c:pt>
              <c:pt idx="7">
                <c:v>0.26534</c:v>
              </c:pt>
              <c:pt idx="8">
                <c:v>0.25439</c:v>
              </c:pt>
              <c:pt idx="9">
                <c:v>0.2541</c:v>
              </c:pt>
              <c:pt idx="10">
                <c:v>0.25493</c:v>
              </c:pt>
            </c:numLit>
          </c:val>
          <c:smooth val="0"/>
        </c:ser>
        <c:ser>
          <c:idx val="5"/>
          <c:order val="5"/>
          <c:tx>
            <c:v>yolo26l p2 cbam 2</c:v>
          </c:tx>
          <c:spPr>
            <a:ln xmlns:a="http://schemas.openxmlformats.org/drawingml/2006/main" w="19050">
              <a:solidFill>
                <a:srgbClr val="00ACC1"/>
              </a:solidFill>
              <a:prstDash val="solid"/>
            </a:ln>
          </c:spPr>
          <c:marker>
            <c:symbol val="circle"/>
            <c:size val="4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1"/>
              <c:pt idx="0">
                <c:v>1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</c:numLit>
          </c:cat>
          <c:val>
            <c:numLit>
              <c:formatCode>0%</c:formatCode>
              <c:ptCount val="11"/>
              <c:pt idx="0">
                <c:v>0.00296</c:v>
              </c:pt>
              <c:pt idx="1">
                <c:v>0.10913</c:v>
              </c:pt>
              <c:pt idx="2">
                <c:v>0.15834</c:v>
              </c:pt>
              <c:pt idx="3">
                <c:v>0.18998</c:v>
              </c:pt>
              <c:pt idx="4">
                <c:v>0.2081</c:v>
              </c:pt>
              <c:pt idx="5">
                <c:v>0.21627</c:v>
              </c:pt>
              <c:pt idx="6">
                <c:v>0.2314</c:v>
              </c:pt>
              <c:pt idx="7">
                <c:v>0.23927</c:v>
              </c:pt>
              <c:pt idx="8">
                <c:v>0.24093</c:v>
              </c:pt>
              <c:pt idx="9">
                <c:v>0.24152</c:v>
              </c:pt>
              <c:pt idx="10">
                <c:v>0.2473</c:v>
              </c:pt>
            </c:numLit>
          </c:val>
          <c:smooth val="0"/>
        </c:ser>
        <c:ser>
          <c:idx val="6"/>
          <c:order val="6"/>
          <c:tx>
            <c:v>yolo26n cbam</c:v>
          </c:tx>
          <c:spPr>
            <a:ln xmlns:a="http://schemas.openxmlformats.org/drawingml/2006/main" w="19050">
              <a:solidFill>
                <a:srgbClr val="5F6368"/>
              </a:solidFill>
              <a:prstDash val="solid"/>
            </a:ln>
          </c:spPr>
          <c:marker>
            <c:symbol val="circle"/>
            <c:size val="4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1"/>
              <c:pt idx="0">
                <c:v>1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</c:numLit>
          </c:cat>
          <c:val>
            <c:numLit>
              <c:formatCode>0%</c:formatCode>
              <c:ptCount val="11"/>
              <c:pt idx="0">
                <c:v>0.02569</c:v>
              </c:pt>
              <c:pt idx="1">
                <c:v>0.12458</c:v>
              </c:pt>
              <c:pt idx="2">
                <c:v>0.16904</c:v>
              </c:pt>
              <c:pt idx="3">
                <c:v>0.19796</c:v>
              </c:pt>
              <c:pt idx="4">
                <c:v>0.22124</c:v>
              </c:pt>
              <c:pt idx="5">
                <c:v>0.23102</c:v>
              </c:pt>
              <c:pt idx="6">
                <c:v>0.23878</c:v>
              </c:pt>
              <c:pt idx="7">
                <c:v>0.24021</c:v>
              </c:pt>
              <c:pt idx="8">
                <c:v>0.23874</c:v>
              </c:pt>
              <c:pt idx="9">
                <c:v>0.24079</c:v>
              </c:pt>
              <c:pt idx="10">
                <c:v>0.24141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Epoch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540">
              <a:solidFill>
                <a:srgbClr val="333333"/>
              </a:solidFill>
            </a:defRPr>
          </a:pPr>
        </a:p>
      </c:txPr>
    </c:legend>
    <c:plotVisOnly val="1"/>
  </c:chart>
</c:chartSpace>
</file>

<file path=ppt/slides/charts/chart6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Training time (hours)</c:v>
          </c:tx>
          <c:spPr>
            <a:solidFill xmlns:a="http://schemas.openxmlformats.org/drawingml/2006/main">
              <a:srgbClr val="F9AB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yolo11n default</c:v>
              </c:pt>
              <c:pt idx="1">
                <c:v>yolo26n cbam</c:v>
              </c:pt>
              <c:pt idx="2">
                <c:v>yolo26n default</c:v>
              </c:pt>
              <c:pt idx="3">
                <c:v>yolo26n p2</c:v>
              </c:pt>
              <c:pt idx="4">
                <c:v>yolo26n p2 cbam</c:v>
              </c:pt>
              <c:pt idx="5">
                <c:v>yolo26l p2 cbam 2</c:v>
              </c:pt>
              <c:pt idx="6">
                <c:v>yolo26l default</c:v>
              </c:pt>
            </c:strLit>
          </c:cat>
          <c:val>
            <c:numLit>
              <c:formatCode>General</c:formatCode>
              <c:ptCount val="7"/>
              <c:pt idx="0">
                <c:v>3.0518333333333336</c:v>
              </c:pt>
              <c:pt idx="1">
                <c:v>3.158444444444444</c:v>
              </c:pt>
              <c:pt idx="2">
                <c:v>3.954777777777778</c:v>
              </c:pt>
              <c:pt idx="3">
                <c:v>5.463638888888888</c:v>
              </c:pt>
              <c:pt idx="4">
                <c:v>5.562083333333334</c:v>
              </c:pt>
              <c:pt idx="5">
                <c:v>6.242666666666667</c:v>
              </c:pt>
              <c:pt idx="6">
                <c:v>10.820305555555555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EB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7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Parameters (M)</c:v>
          </c:tx>
          <c:spPr>
            <a:solidFill xmlns:a="http://schemas.openxmlformats.org/drawingml/2006/main">
              <a:srgbClr val="5F636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yolo26n default</c:v>
              </c:pt>
              <c:pt idx="1">
                <c:v>yolo26n p2</c:v>
              </c:pt>
              <c:pt idx="2">
                <c:v>yolo26n p2 cbam</c:v>
              </c:pt>
              <c:pt idx="3">
                <c:v>yolo26l p2 cbam 2</c:v>
              </c:pt>
              <c:pt idx="4">
                <c:v>yolo26n cbam</c:v>
              </c:pt>
              <c:pt idx="5">
                <c:v>yolo11n default</c:v>
              </c:pt>
              <c:pt idx="6">
                <c:v>yolo26l default</c:v>
              </c:pt>
            </c:strLit>
          </c:cat>
          <c:val>
            <c:numLit>
              <c:formatCode>General</c:formatCode>
              <c:ptCount val="7"/>
              <c:pt idx="0">
                <c:v>2.50692</c:v>
              </c:pt>
              <c:pt idx="1">
                <c:v>2.517824</c:v>
              </c:pt>
              <c:pt idx="2">
                <c:v>2.523236</c:v>
              </c:pt>
              <c:pt idx="3">
                <c:v>2.523236</c:v>
              </c:pt>
              <c:pt idx="4">
                <c:v>2.57281</c:v>
              </c:pt>
              <c:pt idx="5">
                <c:v>2.5914</c:v>
              </c:pt>
              <c:pt idx="6">
                <c:v>26.18868</c:v>
              </c:pt>
            </c:numLit>
          </c:val>
        </c:ser>
        <c:ser>
          <c:idx val="1"/>
          <c:order val="1"/>
          <c:tx>
            <c:v>Best mAP50-95 x100</c:v>
          </c:tx>
          <c:spPr>
            <a:solidFill xmlns:a="http://schemas.openxmlformats.org/drawingml/2006/main">
              <a:srgbClr val="4285F4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yolo26n default</c:v>
              </c:pt>
              <c:pt idx="1">
                <c:v>yolo26n p2</c:v>
              </c:pt>
              <c:pt idx="2">
                <c:v>yolo26n p2 cbam</c:v>
              </c:pt>
              <c:pt idx="3">
                <c:v>yolo26l p2 cbam 2</c:v>
              </c:pt>
              <c:pt idx="4">
                <c:v>yolo26n cbam</c:v>
              </c:pt>
              <c:pt idx="5">
                <c:v>yolo11n default</c:v>
              </c:pt>
              <c:pt idx="6">
                <c:v>yolo26l default</c:v>
              </c:pt>
            </c:strLit>
          </c:cat>
          <c:val>
            <c:numLit>
              <c:formatCode>General</c:formatCode>
              <c:ptCount val="7"/>
              <c:pt idx="0">
                <c:v>27.748</c:v>
              </c:pt>
              <c:pt idx="1">
                <c:v>27.644999999999996</c:v>
              </c:pt>
              <c:pt idx="2">
                <c:v>26.645000000000003</c:v>
              </c:pt>
              <c:pt idx="3">
                <c:v>24.73</c:v>
              </c:pt>
              <c:pt idx="4">
                <c:v>24.141000000000002</c:v>
              </c:pt>
              <c:pt idx="5">
                <c:v>29.544999999999998</c:v>
              </c:pt>
              <c:pt idx="6">
                <c:v>31.787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7EB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15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38">
              <a:solidFill>
                <a:srgbClr val="333333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64E632E0-371C-49B4-B9F6-C5362B5FB84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sz="2400">
                <a:solidFill>
                  <a:srgbClr val="000000"/>
                </a:solidFill>
              </a:rPr>
              <a:t>Multi-Class Object Detection in Pediatric Wrist X-rays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893BCBA-7470-451F-823F-977F49D2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71800"/>
            <a:ext cx="71323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400">
                <a:solidFill>
                  <a:srgbClr val="444444"/>
                </a:solidFill>
              </a:rPr>
              <a:t>Project topic presentation</a:t>
            </a:r>
          </a:p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400">
                <a:solidFill>
                  <a:srgbClr val="444444"/>
                </a:solidFill>
              </a:rPr>
              <a:t>Group members: Piotr Stachowicz, Jakub Malczak</a:t>
            </a:r>
          </a:p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400">
                <a:solidFill>
                  <a:srgbClr val="444444"/>
                </a:solidFill>
              </a:rPr>
              <a:t>Dataset: GRAZPEDWRI-DX</a:t>
            </a:r>
          </a:p>
        </p:txBody>
      </p:sp>
    </p:spTree>
    <p:extLst>
      <p:ext uri="{BB962C8B-B14F-4D97-AF65-F5344CB8AC3E}">
        <p14:creationId xmlns:p14="http://schemas.microsoft.com/office/powerpoint/2010/main" val="8802644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1A66C616-F556-414E-9573-4B1EF6353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2400">
                <a:solidFill>
                  <a:srgbClr val="000000"/>
                </a:solidFill>
              </a:rPr>
              <a:t>Formal Problem Definition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6EF1C620-BF95-4488-B7D0-2A31E94D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8046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>
                <a:solidFill>
                  <a:srgbClr val="000000"/>
                </a:solidFill>
              </a:rPr>
              <a:t>A multi-class detector learns a mapping from an input X-ray image to a set of localized objects with class labels and confidence scores.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327AEF3F-D1C3-4F1E-B723-35319A77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822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000000"/>
                </a:solidFill>
              </a:rPr>
              <a:t>Given:</a:t>
            </a:r>
          </a:p>
        </p:txBody>
      </p:sp>
      <p:pic>
        <p:nvPicPr>
          <p:cNvPr id="76" name="Picture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602e0945746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1554480"/>
            <a:ext cx="7132320" cy="522684"/>
          </a:xfrm>
          <a:prstGeom xmlns:a="http://schemas.openxmlformats.org/drawingml/2006/main" prst="rect">
            <a:avLst/>
          </a:prstGeom>
        </p:spPr>
      </p:pic>
      <p:pic>
        <p:nvPicPr>
          <p:cNvPr id="77" name="Picture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0e78563cb4a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2084831"/>
            <a:ext cx="7726679" cy="566241"/>
          </a:xfrm>
          <a:prstGeom xmlns:a="http://schemas.openxmlformats.org/drawingml/2006/main" prst="rect">
            <a:avLst/>
          </a:prstGeom>
        </p:spPr>
      </p:pic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08A13088-FAFA-46AE-B487-B772757D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000000"/>
                </a:solidFill>
              </a:rPr>
              <a:t>Find:</a:t>
            </a:r>
          </a:p>
        </p:txBody>
      </p:sp>
      <p:pic>
        <p:nvPicPr>
          <p:cNvPr id="79" name="Picture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7c04aa8bf47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440" y="2761488"/>
            <a:ext cx="7269480" cy="532736"/>
          </a:xfrm>
          <a:prstGeom xmlns:a="http://schemas.openxmlformats.org/drawingml/2006/main" prst="rect">
            <a:avLst/>
          </a:prstGeom>
        </p:spPr>
      </p:pic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8D961302-08E6-4894-976A-F4551322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01568"/>
            <a:ext cx="1325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000000"/>
                </a:solidFill>
              </a:rPr>
              <a:t>Objective:</a:t>
            </a:r>
          </a:p>
        </p:txBody>
      </p:sp>
      <p:pic>
        <p:nvPicPr>
          <p:cNvPr id="81" name="Picture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445973aea42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83080" y="3364992"/>
            <a:ext cx="6446520" cy="472426"/>
          </a:xfrm>
          <a:prstGeom xmlns:a="http://schemas.openxmlformats.org/drawingml/2006/main" prst="rect">
            <a:avLst/>
          </a:prstGeom>
        </p:spPr>
      </p:pic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2FF2C3D-D629-4C48-8F47-3EAB2EF5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41648"/>
            <a:ext cx="795527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900">
                <a:solidFill>
                  <a:srgbClr val="464646"/>
                </a:solidFill>
              </a:rPr>
              <a:t>Here, b is a bounding box, c is a class label, and s is the confidence score. The loss combines classification, box regression, and objectness terms.</a:t>
            </a:r>
          </a:p>
        </p:txBody>
      </p:sp>
    </p:spTree>
    <p:extLst>
      <p:ext uri="{BB962C8B-B14F-4D97-AF65-F5344CB8AC3E}">
        <p14:creationId xmlns:p14="http://schemas.microsoft.com/office/powerpoint/2010/main" val="8516908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83B695F9-F7D6-468F-9B31-2CBFC4DA35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2400">
                <a:solidFill>
                  <a:srgbClr val="000000"/>
                </a:solidFill>
              </a:rPr>
              <a:t>Dataset Overview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1D91F7E4-3BA8-4A7D-8AF8-1DB04094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489204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1">
                <a:solidFill>
                  <a:srgbClr val="000000"/>
                </a:solidFill>
              </a:rPr>
              <a:t>GRAZPEDWRI-DX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>
                <a:solidFill>
                  <a:srgbClr val="000000"/>
                </a:solidFill>
              </a:rPr>
              <a:t>- 20,327 wrist trauma X-ray images from 6,091 pediatric patients.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>
                <a:solidFill>
                  <a:srgbClr val="000000"/>
                </a:solidFill>
              </a:rPr>
              <a:t>- 10,643 studies collected at University Hospital Graz between 2008 and 2018.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>
                <a:solidFill>
                  <a:srgbClr val="000000"/>
                </a:solidFill>
              </a:rPr>
              <a:t>- 16-bit grayscale PNG images, mostly PA and lateral views.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>
                <a:solidFill>
                  <a:srgbClr val="000000"/>
                </a:solidFill>
              </a:rPr>
              <a:t>- Metadata includes age, sex, laterality, projection, fracture visibility, cast and metal flags.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>
                <a:solidFill>
                  <a:srgbClr val="000000"/>
                </a:solidFill>
              </a:rPr>
              <a:t>- The dataset paper reports 74,459 image tags and 67,771 labeled objects.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>
                <a:solidFill>
                  <a:srgbClr val="000000"/>
                </a:solidFill>
              </a:rPr>
              <a:t>- License: CC BY 4.0.</a:t>
            </a:r>
          </a:p>
        </p:txBody>
      </p:sp>
      <p:pic>
        <p:nvPicPr>
          <p:cNvPr id="72" name="Picture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c53bdf7824d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097280"/>
            <a:ext cx="2292543" cy="3337560"/>
          </a:xfrm>
          <a:prstGeom xmlns:a="http://schemas.openxmlformats.org/drawingml/2006/main" prst="rect">
            <a:avLst/>
          </a:prstGeom>
        </p:spPr>
      </p:pic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47B5C261-3A95-4519-8341-FE39FA85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90288"/>
            <a:ext cx="749807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800">
                <a:solidFill>
                  <a:srgbClr val="5A5A5A"/>
                </a:solidFill>
              </a:rPr>
              <a:t>Source: Nagy et al., Scientific Data (2022). The image on the right is an annotated sample from the dataset paper.</a:t>
            </a:r>
          </a:p>
        </p:txBody>
      </p:sp>
    </p:spTree>
    <p:extLst>
      <p:ext uri="{BB962C8B-B14F-4D97-AF65-F5344CB8AC3E}">
        <p14:creationId xmlns:p14="http://schemas.microsoft.com/office/powerpoint/2010/main" val="5802092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30576B45-91CD-41C5-A8C0-584787E799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2200">
                <a:solidFill>
                  <a:srgbClr val="000000"/>
                </a:solidFill>
              </a:rPr>
              <a:t>Example Data Points from the Dataset</a:t>
            </a:r>
          </a:p>
        </p:txBody>
      </p:sp>
      <p:pic>
        <p:nvPicPr>
          <p:cNvPr id="87" name="Picture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a183d8f4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40" y="1143000"/>
            <a:ext cx="2011680" cy="2708031"/>
          </a:xfrm>
          <a:prstGeom xmlns:a="http://schemas.openxmlformats.org/drawingml/2006/main" prst="rect">
            <a:avLst/>
          </a:prstGeom>
        </p:spPr>
      </p:pic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4B9E011E-2D55-4271-B5FF-CA6D3282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822191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>Fracture</a:t>
            </a:r>
          </a:p>
        </p:txBody>
      </p:sp>
      <p:pic>
        <p:nvPicPr>
          <p:cNvPr id="89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aec2749bf4e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68880" y="1143000"/>
            <a:ext cx="2011680" cy="2708031"/>
          </a:xfrm>
          <a:prstGeom xmlns:a="http://schemas.openxmlformats.org/drawingml/2006/main" prst="rect">
            <a:avLst/>
          </a:prstGeom>
        </p:spPr>
      </p:pic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0323BB7F-0B10-4327-9E5A-1FA6EB09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822191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>Periosteal reaction</a:t>
            </a:r>
          </a:p>
        </p:txBody>
      </p:sp>
      <p:pic>
        <p:nvPicPr>
          <p:cNvPr id="91" name="Picture 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63de9c48b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7720" y="1143000"/>
            <a:ext cx="2011680" cy="2708031"/>
          </a:xfrm>
          <a:prstGeom xmlns:a="http://schemas.openxmlformats.org/drawingml/2006/main" prst="rect">
            <a:avLst/>
          </a:prstGeom>
        </p:spPr>
      </p:pic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C7C6DCDA-9DE9-4429-B511-43B03BE2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22191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>Soft tissue swelling</a:t>
            </a:r>
          </a:p>
        </p:txBody>
      </p:sp>
      <p:pic>
        <p:nvPicPr>
          <p:cNvPr id="93" name="Picture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eae7feb1149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1143000"/>
            <a:ext cx="2011680" cy="2708031"/>
          </a:xfrm>
          <a:prstGeom xmlns:a="http://schemas.openxmlformats.org/drawingml/2006/main" prst="rect">
            <a:avLst/>
          </a:prstGeom>
        </p:spPr>
      </p:pic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3729DE57-045E-4B42-8EAE-87DD66F5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822191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1100" b="1">
                <a:solidFill>
                  <a:srgbClr val="000000"/>
                </a:solidFill>
              </a:rPr>
              <a:t>Metal implant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29F5FB08-3F85-41F8-BBC6-C211ACDB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6052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</a:pPr>
            <a:r>
              <a:rPr sz="900">
                <a:solidFill>
                  <a:srgbClr val="464646"/>
                </a:solidFill>
              </a:rPr>
              <a:t>These examples illustrate the label diversity in GRAZPEDWRI-DX. Other classes and tags include text markers, pronator quadratus sign, foreign body, bone anomaly, cast, and osteopenia.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6CCCDDA6-D51A-4CE3-848C-11EF5E63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26280"/>
            <a:ext cx="8229600" cy="325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2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6666"/>
                </a:solidFill>
                <a:latin typeface="Arial"/>
                <a:ea typeface="Arial"/>
                <a:cs typeface="Arial"/>
              </a:rPr>
              <a:t>Across 9 labels, text markers and fracture annotations dominate; most images carry one or two labels.</a:t>
            </a:r>
          </a:p>
        </p:txBody>
      </p:sp>
    </p:spTree>
    <p:extLst>
      <p:ext uri="{BB962C8B-B14F-4D97-AF65-F5344CB8AC3E}">
        <p14:creationId xmlns:p14="http://schemas.microsoft.com/office/powerpoint/2010/main" val="8580601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7">
            <a:extLst xmlns:a="http://schemas.openxmlformats.org/drawingml/2006/main">
              <a:ext uri="{FF2B5EF4-FFF2-40B4-BE49-F238E27FC236}">
                <a16:creationId xmlns:a16="http://schemas.microsoft.com/office/drawing/2014/main" id="{535FE443-12F1-4B55-9404-5E7CEC7E3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Clean Dataset for Downstream Modeling</a:t>
            </a:r>
          </a:p>
        </p:txBody>
      </p:sp>
      <p:sp>
        <p:nvSpPr>
          <p:cNvPr id="92" name="StatCard1">
            <a:extLst xmlns:a="http://schemas.openxmlformats.org/drawingml/2006/main">
              <a:ext uri="{FF2B5EF4-FFF2-40B4-BE49-F238E27FC236}">
                <a16:creationId xmlns:a16="http://schemas.microsoft.com/office/drawing/2014/main" id="{34B94616-435E-4645-A9C7-0EF440C3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117725"/>
            <a:ext cx="2548000" cy="11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25" tIns="45720" rIns="91425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3200" b="1">
                <a:solidFill>
                  <a:srgbClr val="4285F4"/>
                </a:solidFill>
              </a:rPr>
              <a:t>20,327</a:t>
            </a:r>
          </a:p>
          <a:p xmlns:a="http://schemas.openxmlformats.org/drawingml/2006/main">
            <a:pPr algn="ctr">
              <a:buNone/>
            </a:pPr>
            <a:r>
              <a:rPr sz="1200">
                <a:solidFill>
                  <a:srgbClr val="595959"/>
                </a:solidFill>
              </a:rPr>
              <a:t>X-ray images</a:t>
            </a:r>
          </a:p>
        </p:txBody>
      </p:sp>
      <p:sp>
        <p:nvSpPr>
          <p:cNvPr id="93" name="StatCard2">
            <a:extLst xmlns:a="http://schemas.openxmlformats.org/drawingml/2006/main">
              <a:ext uri="{FF2B5EF4-FFF2-40B4-BE49-F238E27FC236}">
                <a16:creationId xmlns:a16="http://schemas.microsoft.com/office/drawing/2014/main" id="{4324A432-CFDD-49B7-9C58-A68E4331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000" y="1117725"/>
            <a:ext cx="2548000" cy="11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25" tIns="45720" rIns="91425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800" b="1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85F4"/>
                </a:solidFill>
                <a:latin typeface="Arial"/>
                <a:ea typeface="Arial"/>
                <a:cs typeface="Arial"/>
              </a:rPr>
              <a:t>6,091</a:t>
            </a:r>
          </a:p>
          <a:p xmlns:a="http://schemas.openxmlformats.org/drawingml/2006/main">
            <a:pPr algn="ctr">
              <a:spcAft>
                <a:spcPts val="200"/>
              </a:spcAft>
              <a:buNone/>
              <a:defRPr sz="1800" b="1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285F4"/>
                </a:solidFill>
                <a:latin typeface="Arial"/>
                <a:ea typeface="Arial"/>
                <a:cs typeface="Arial"/>
              </a:rPr>
              <a:t>pediatric patients</a:t>
            </a:r>
          </a:p>
        </p:txBody>
      </p:sp>
      <p:sp>
        <p:nvSpPr>
          <p:cNvPr id="94" name="StatCard3">
            <a:extLst xmlns:a="http://schemas.openxmlformats.org/drawingml/2006/main">
              <a:ext uri="{FF2B5EF4-FFF2-40B4-BE49-F238E27FC236}">
                <a16:creationId xmlns:a16="http://schemas.microsoft.com/office/drawing/2014/main" id="{4CB11A91-F272-4773-A397-AD054636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000" y="1117725"/>
            <a:ext cx="2548000" cy="11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25" tIns="45720" rIns="91425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3200" b="1">
                <a:solidFill>
                  <a:srgbClr val="4285F4"/>
                </a:solidFill>
              </a:rPr>
              <a:t>17</a:t>
            </a:r>
          </a:p>
          <a:p xmlns:a="http://schemas.openxmlformats.org/drawingml/2006/main">
            <a:pPr algn="ctr">
              <a:buNone/>
            </a:pPr>
            <a:r>
              <a:rPr sz="1200">
                <a:solidFill>
                  <a:srgbClr val="595959"/>
                </a:solidFill>
              </a:rPr>
              <a:t>fields per record</a:t>
            </a:r>
          </a:p>
        </p:txBody>
      </p:sp>
      <p:sp>
        <p:nvSpPr>
          <p:cNvPr id="95" name="TextBox Demographics">
            <a:extLst xmlns:a="http://schemas.openxmlformats.org/drawingml/2006/main">
              <a:ext uri="{FF2B5EF4-FFF2-40B4-BE49-F238E27FC236}">
                <a16:creationId xmlns:a16="http://schemas.microsoft.com/office/drawing/2014/main" id="{352ACC07-FE04-434E-A796-E2DB1C5D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2617756"/>
            <a:ext cx="3922014" cy="1809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Demographics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  <a:ea typeface="Arial"/>
                <a:cs typeface="Arial"/>
              </a:rPr>
              <a:t>- Age range: 0.2-19.0 years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  <a:ea typeface="Arial"/>
                <a:cs typeface="Arial"/>
              </a:rPr>
              <a:t>- Sex: 55.84% male, 44.15% female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  <a:ea typeface="Arial"/>
                <a:cs typeface="Arial"/>
              </a:rPr>
              <a:t>- Laterality is balanced across left/right wrists</a:t>
            </a:r>
          </a:p>
        </p:txBody>
      </p:sp>
      <p:sp>
        <p:nvSpPr>
          <p:cNvPr id="96" name="TextBox Quality">
            <a:extLst xmlns:a="http://schemas.openxmlformats.org/drawingml/2006/main">
              <a:ext uri="{FF2B5EF4-FFF2-40B4-BE49-F238E27FC236}">
                <a16:creationId xmlns:a16="http://schemas.microsoft.com/office/drawing/2014/main" id="{D59D2C5B-3EC8-4C3C-8E53-046FC0DE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7756"/>
            <a:ext cx="3922014" cy="1809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 Quality Checks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- Duplicate records: 0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- Missing / empty annotations: 0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- Uncertain diagnoses: 537 cases (2.64%)</a:t>
            </a:r>
          </a:p>
        </p:txBody>
      </p:sp>
      <p:sp>
        <p:nvSpPr>
          <p:cNvPr id="97" name="TextBox Takeaway">
            <a:extLst xmlns:a="http://schemas.openxmlformats.org/drawingml/2006/main">
              <a:ext uri="{FF2B5EF4-FFF2-40B4-BE49-F238E27FC236}">
                <a16:creationId xmlns:a16="http://schemas.microsoft.com/office/drawing/2014/main" id="{81866B28-A56D-470F-AB07-2BCBEB2D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4549997"/>
            <a:ext cx="8243983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The dataset is consistent enough for model training: no duplicate records, no empty annotations, and a low uncertainty rate.</a:t>
            </a:r>
          </a:p>
        </p:txBody>
      </p:sp>
    </p:spTree>
    <p:extLst>
      <p:ext uri="{BB962C8B-B14F-4D97-AF65-F5344CB8AC3E}">
        <p14:creationId xmlns:p14="http://schemas.microsoft.com/office/powerpoint/2010/main" val="17041010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18">
            <a:extLst xmlns:a="http://schemas.openxmlformats.org/drawingml/2006/main">
              <a:ext uri="{FF2B5EF4-FFF2-40B4-BE49-F238E27FC236}">
                <a16:creationId xmlns:a16="http://schemas.microsoft.com/office/drawing/2014/main" id="{5DBDE1E1-1AA3-4314-A167-77DD249A0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2400">
                <a:solidFill>
                  <a:srgbClr val="000000"/>
                </a:solidFill>
              </a:rPr>
              <a:t>Images per Patient</a:t>
            </a:r>
          </a:p>
        </p:txBody>
      </p:sp>
      <p:sp>
        <p:nvSpPr>
          <p:cNvPr id="102" name="TextBox Stats">
            <a:extLst xmlns:a="http://schemas.openxmlformats.org/drawingml/2006/main">
              <a:ext uri="{FF2B5EF4-FFF2-40B4-BE49-F238E27FC236}">
                <a16:creationId xmlns:a16="http://schemas.microsoft.com/office/drawing/2014/main" id="{DF85BF8F-13F8-4F03-8A7B-A20A8A2D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1234440"/>
            <a:ext cx="3950018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Summary statistics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  <a:ea typeface="Arial"/>
                <a:cs typeface="Arial"/>
              </a:rPr>
              <a:t>- Mean: 3.34 images per patient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  <a:ea typeface="Arial"/>
                <a:cs typeface="Arial"/>
              </a:rPr>
              <a:t>- Median: 2.0 images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  <a:ea typeface="Arial"/>
                <a:cs typeface="Arial"/>
              </a:rPr>
              <a:t>- IQR: 2-4 images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  <a:ea typeface="Arial"/>
                <a:cs typeface="Arial"/>
              </a:rPr>
              <a:t>- Range: 1-30 images</a:t>
            </a:r>
          </a:p>
          <a:p xmlns:a="http://schemas.openxmlformats.org/drawingml/2006/main">
            <a:pPr algn="l">
              <a:spcAft>
                <a:spcPts val="500"/>
              </a:spcAft>
              <a:buNone/>
            </a:pPr>
            <a:r>
              <a:t/>
            </a:r>
          </a:p>
          <a:p xmlns:a="http://schemas.openxmlformats.org/drawingml/2006/main">
            <a:pPr algn="l">
              <a:spcAft>
                <a:spcPts val="400"/>
              </a:spcAft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 i="1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long tail likely reflects repeated visits, follow-up exams, or multiple projections per study.</a:t>
            </a:r>
          </a:p>
        </p:txBody>
      </p:sp>
      <p:pic>
        <p:nvPicPr>
          <p:cNvPr id="108" name="Picture Histogra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9bd6649da4c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0000" y="1480000"/>
            <a:ext cx="4194000" cy="2334000"/>
          </a:xfrm>
          <a:prstGeom xmlns:a="http://schemas.openxmlformats.org/drawingml/2006/main" prst="rect">
            <a:avLst/>
          </a:prstGeom>
        </p:spPr>
      </p:pic>
      <p:sp>
        <p:nvSpPr>
          <p:cNvPr id="104" name="TextBox Caption">
            <a:extLst xmlns:a="http://schemas.openxmlformats.org/drawingml/2006/main">
              <a:ext uri="{FF2B5EF4-FFF2-40B4-BE49-F238E27FC236}">
                <a16:creationId xmlns:a16="http://schemas.microsoft.com/office/drawing/2014/main" id="{07467994-92DC-407F-8B64-BF7F5DD8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3884000"/>
            <a:ext cx="4194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800">
                <a:solidFill>
                  <a:srgbClr val="5A5A5A"/>
                </a:solidFill>
              </a:rPr>
              <a:t>Computed via groupby on patient_id across the full dataset (n = 6,091 patients).</a:t>
            </a:r>
          </a:p>
        </p:txBody>
      </p:sp>
    </p:spTree>
    <p:extLst>
      <p:ext uri="{BB962C8B-B14F-4D97-AF65-F5344CB8AC3E}">
        <p14:creationId xmlns:p14="http://schemas.microsoft.com/office/powerpoint/2010/main" val="12818309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Google Shape;111;p19">
            <a:extLst xmlns:a="http://schemas.openxmlformats.org/drawingml/2006/main">
              <a:ext uri="{FF2B5EF4-FFF2-40B4-BE49-F238E27FC236}">
                <a16:creationId xmlns:a16="http://schemas.microsoft.com/office/drawing/2014/main" id="{6CFE2794-7889-4777-89FC-2C59FE2332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Fracture and Text Labels Dominate</a:t>
            </a:r>
          </a:p>
        </p:txBody>
      </p:sp>
      <p:sp>
        <p:nvSpPr>
          <p:cNvPr id="112" name="TextBox Intro">
            <a:extLst xmlns:a="http://schemas.openxmlformats.org/drawingml/2006/main">
              <a:ext uri="{FF2B5EF4-FFF2-40B4-BE49-F238E27FC236}">
                <a16:creationId xmlns:a16="http://schemas.microsoft.com/office/drawing/2014/main" id="{97A203C9-24F5-4493-9EB5-55B34F38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1100000"/>
            <a:ext cx="8244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400">
                <a:solidFill>
                  <a:srgbClr val="000000"/>
                </a:solidFill>
              </a:rPr>
              <a:t>Across 9 possible labels, </a:t>
            </a:r>
            <a:r>
              <a:rPr sz="1400" b="1">
                <a:solidFill>
                  <a:srgbClr val="000000"/>
                </a:solidFill>
              </a:rPr>
              <a:t>text</a:t>
            </a:r>
            <a:r>
              <a:rPr sz="1400">
                <a:solidFill>
                  <a:srgbClr val="000000"/>
                </a:solidFill>
              </a:rPr>
              <a:t> and </a:t>
            </a:r>
            <a:r>
              <a:rPr sz="1400" b="1">
                <a:solidFill>
                  <a:srgbClr val="000000"/>
                </a:solidFill>
              </a:rPr>
              <a:t>fracture</a:t>
            </a:r>
            <a:r>
              <a:rPr sz="1400">
                <a:solidFill>
                  <a:srgbClr val="000000"/>
                </a:solidFill>
              </a:rPr>
              <a:t> dominate; images carry 1.87 labels on average (median 2, max 5).</a:t>
            </a:r>
          </a:p>
        </p:txBody>
      </p:sp>
      <p:pic>
        <p:nvPicPr>
          <p:cNvPr id="121" name="Picture LabelFrequenc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11c5e1e5d42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5100" y="1680000"/>
            <a:ext cx="3841800" cy="2850000"/>
          </a:xfrm>
          <a:prstGeom xmlns:a="http://schemas.openxmlformats.org/drawingml/2006/main" prst="rect">
            <a:avLst/>
          </a:prstGeom>
        </p:spPr>
      </p:pic>
      <p:pic>
        <p:nvPicPr>
          <p:cNvPr id="122" name="Picture LabelsPer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e4c32011b4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700" y="1680000"/>
            <a:ext cx="3624600" cy="2850000"/>
          </a:xfrm>
          <a:prstGeom xmlns:a="http://schemas.openxmlformats.org/drawingml/2006/main" prst="rect">
            <a:avLst/>
          </a:prstGeom>
        </p:spPr>
      </p:pic>
      <p:sp>
        <p:nvSpPr>
          <p:cNvPr id="115" name="TextBox CaptionLeft">
            <a:extLst xmlns:a="http://schemas.openxmlformats.org/drawingml/2006/main">
              <a:ext uri="{FF2B5EF4-FFF2-40B4-BE49-F238E27FC236}">
                <a16:creationId xmlns:a16="http://schemas.microsoft.com/office/drawing/2014/main" id="{EA7C3A4A-18DA-44F8-A6F3-EEA83809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" y="4570000"/>
            <a:ext cx="3972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Label frequency across the multi-label dataset (n = 20,327 images).</a:t>
            </a:r>
          </a:p>
        </p:txBody>
      </p:sp>
      <p:sp>
        <p:nvSpPr>
          <p:cNvPr id="116" name="TextBox CaptionRight">
            <a:extLst xmlns:a="http://schemas.openxmlformats.org/drawingml/2006/main">
              <a:ext uri="{FF2B5EF4-FFF2-40B4-BE49-F238E27FC236}">
                <a16:creationId xmlns:a16="http://schemas.microsoft.com/office/drawing/2014/main" id="{67E3BA49-21E8-4166-BF79-508B306E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000" y="4570000"/>
            <a:ext cx="3972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Labels per image, showing that the dataset is mostly sparse.</a:t>
            </a:r>
          </a:p>
        </p:txBody>
      </p:sp>
    </p:spTree>
    <p:extLst>
      <p:ext uri="{BB962C8B-B14F-4D97-AF65-F5344CB8AC3E}">
        <p14:creationId xmlns:p14="http://schemas.microsoft.com/office/powerpoint/2010/main" val="1086862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6A3E3-4713-465A-8D0E-A75042E1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" y="445008"/>
            <a:ext cx="852058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YOLO26l Leads, YOLO11n Is Most Efficient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A290C-A8B3-484B-8C3D-1BC6BF3A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1000125"/>
            <a:ext cx="82439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666666"/>
                </a:solidFill>
                <a:latin typeface="Arial"/>
                <a:ea typeface="Arial"/>
                <a:cs typeface="Arial"/>
              </a:rPr>
              <a:t>Best validation mAP50-95 from each requested run's results.csv.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19F51-99BA-401A-84BF-3047EC17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1381125"/>
            <a:ext cx="2548033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349C0-C8C3-471B-B57E-2D156355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138112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053D5-19D9-4868-8496-095DE516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" y="1504950"/>
            <a:ext cx="228133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TOP OVERALL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84575-A214-4A0C-8006-837BD2D8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" y="1733550"/>
            <a:ext cx="228133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31.8%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7FA06-BC57-4AF1-A39B-90D59916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1" y="2095500"/>
            <a:ext cx="228133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65">
                <a:solidFill>
                  <a:srgbClr val="666666"/>
                </a:solidFill>
                <a:latin typeface="Arial"/>
                <a:ea typeface="Arial"/>
                <a:cs typeface="Arial"/>
              </a:rPr>
              <a:t>yolo26l_default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AA9CC-F531-4A28-A8B9-202A25F3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031" y="1381125"/>
            <a:ext cx="2548033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D5129-D12D-4CD2-8AB1-55DB6274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031" y="138112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ECCDC-1F97-4273-841D-F3800D4D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481" y="1504950"/>
            <a:ext cx="228133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BEST NANO DEFAULT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CA128-1B98-4096-BCE7-75BB0F65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481" y="1733550"/>
            <a:ext cx="228133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29.5%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037C6-8A55-4074-B2A9-4BED542B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481" y="2095500"/>
            <a:ext cx="228133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65">
                <a:solidFill>
                  <a:srgbClr val="666666"/>
                </a:solidFill>
                <a:latin typeface="Arial"/>
                <a:ea typeface="Arial"/>
                <a:cs typeface="Arial"/>
              </a:rPr>
              <a:t>yolo11n_default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48B2E-C94C-4573-8B52-36A62776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006" y="1381125"/>
            <a:ext cx="2548033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006C5-9224-4636-923F-A624F41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006" y="138112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AA3D7-353C-4972-B964-AF23B786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56" y="1504950"/>
            <a:ext cx="228133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FASTEST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B8734-45C5-41FC-95D6-2FD288B0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56" y="1733550"/>
            <a:ext cx="228133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3.1h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B7168-0CA1-4EB5-A520-08C04D7F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56" y="2095500"/>
            <a:ext cx="228133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65">
                <a:solidFill>
                  <a:srgbClr val="666666"/>
                </a:solidFill>
                <a:latin typeface="Arial"/>
                <a:ea typeface="Arial"/>
                <a:cs typeface="Arial"/>
              </a:rPr>
              <a:t>yolo11n_default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A3A94-4C31-4882-AEA1-8DAA6664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2686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Ranked best mAP50-95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449961" y="3000375"/>
          <a:ext xmlns:a="http://schemas.openxmlformats.org/drawingml/2006/main" cx="5334000" cy="1571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c75a8c12594600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69370-32F8-4B02-B9ED-E79D5823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908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Takeaways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A8FDE-8769-4171-9FBB-E17BD59D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23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923">
                <a:solidFill>
                  <a:srgbClr val="333333"/>
                </a:solidFill>
                <a:latin typeface="Arial"/>
                <a:ea typeface="Arial"/>
                <a:cs typeface="Arial"/>
              </a:rPr>
              <a:t>- YOLO26l default has the strongest best-epoch score, but is also the slowest run.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F4CB4-48AB-4FBD-ACAF-6A333789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337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23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923">
                <a:solidFill>
                  <a:srgbClr val="333333"/>
                </a:solidFill>
                <a:latin typeface="Arial"/>
                <a:ea typeface="Arial"/>
                <a:cs typeface="Arial"/>
              </a:rPr>
              <a:t>- YOLO11n default is the strongest nano/default baseline and the fastest complete run.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55E51-2D90-43A2-B2F9-23A8BCA2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624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23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923">
                <a:solidFill>
                  <a:srgbClr val="333333"/>
                </a:solidFill>
                <a:latin typeface="Arial"/>
                <a:ea typeface="Arial"/>
                <a:cs typeface="Arial"/>
              </a:rPr>
              <a:t>- P2 and CBAM variants do not improve mAP50-95 in these logs.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9E56D-8156-4DA1-9633-5AC26422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4667250"/>
            <a:ext cx="82439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254D0-BBFE-42D7-9A9A-4BB017C5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4762500"/>
            <a:ext cx="824398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13">
                <a:solidFill>
                  <a:srgbClr val="666666"/>
                </a:solidFill>
                <a:latin typeface="Arial"/>
                <a:ea typeface="Arial"/>
                <a:cs typeface="Arial"/>
              </a:rPr>
              <a:t>Source: selected training results.csv files in the project workspace.</a:t>
            </a:r>
          </a:p>
        </p:txBody>
      </p:sp>
    </p:spTree>
    <p:extLst>
      <p:ext uri="{BB962C8B-B14F-4D97-AF65-F5344CB8AC3E}">
        <p14:creationId xmlns:p14="http://schemas.microsoft.com/office/powerpoint/2010/main" val="1661342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F5795D-49E3-4A01-818E-161A0244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" y="445008"/>
            <a:ext cx="852058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Best-Epoch Metrics Across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16F5F-CC01-43E3-9714-86739E2B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1000125"/>
            <a:ext cx="82439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666666"/>
                </a:solidFill>
                <a:latin typeface="Arial"/>
                <a:ea typeface="Arial"/>
                <a:cs typeface="Arial"/>
              </a:rPr>
              <a:t>Each row uses the epoch with the highest mAP50-95 for that run.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00050" y="1362075"/>
          <a:ext xmlns:a="http://schemas.openxmlformats.org/drawingml/2006/main" cx="8343900" cy="3028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90700"/>
                <a:gridCol w="552450"/>
                <a:gridCol w="781050"/>
                <a:gridCol w="704850"/>
                <a:gridCol w="704850"/>
                <a:gridCol w="819150"/>
                <a:gridCol w="723900"/>
                <a:gridCol w="723900"/>
                <a:gridCol w="552450"/>
              </a:tblGrid>
              <a:tr h="378619"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Epoch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mAP50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mAP50-95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 box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 cls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yolo26l_default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77.2%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41.9%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52.4%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31.8%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1.501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0.835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10.8h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yolo11n_default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71.2%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47.0%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48.0%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29.5%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1.430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0.824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3.1h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yolo26n_default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76.3%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43.7%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47.3%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27.7%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1.484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0.863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4.0h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yolo26n_p2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69.9%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41.0%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49.4%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27.6%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1.489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0.856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5.5h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yolo26n_p2_cbam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68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76.3%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42.9%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44.5%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26.6%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1.488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0.871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5.6h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yolo26l_p2_cbam-2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62.6%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40.7%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42.5%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24.7%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1.522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0.919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6.2h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yolo26n_cbam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71.6%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42.2%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42.1%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24.1%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1.577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1.001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3.2h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132C3-3FCE-4A42-97F7-BE0C636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4619625"/>
            <a:ext cx="824398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6666"/>
                </a:solidFill>
                <a:latin typeface="Arial"/>
                <a:ea typeface="Arial"/>
                <a:cs typeface="Arial"/>
              </a:rPr>
              <a:t>The top row is highlighted. Losses are validation losses from the same best-mAP50-95 epoch.</a:t>
            </a:r>
          </a:p>
        </p:txBody>
      </p:sp>
    </p:spTree>
    <p:extLst>
      <p:ext uri="{BB962C8B-B14F-4D97-AF65-F5344CB8AC3E}">
        <p14:creationId xmlns:p14="http://schemas.microsoft.com/office/powerpoint/2010/main" val="17109676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DA472-B591-4777-BBF7-53D683C1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" y="445008"/>
            <a:ext cx="852058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Precision Is Stronger Than 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A3220-B72B-455A-8CCF-E04D3923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1000125"/>
            <a:ext cx="82439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666666"/>
                </a:solidFill>
                <a:latin typeface="Arial"/>
                <a:ea typeface="Arial"/>
                <a:cs typeface="Arial"/>
              </a:rPr>
              <a:t>Best-epoch precision is generally high, while recall remains the main limiting metric.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49961" y="1428750"/>
          <a:ext xmlns:a="http://schemas.openxmlformats.org/drawingml/2006/main" cx="5715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6df726bc4c4ca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02674-0143-4851-85F0-B9AB26FB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26829-8BAE-4BC6-A1F0-C9B1DB9E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4BAAD-E0FD-40A0-852C-0FF63EB4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954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BEST PRECISION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AC189-2E7B-42C9-9EE1-B55199EB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77.2%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2D99B-2455-4CA7-B032-8BEAE949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65">
                <a:solidFill>
                  <a:srgbClr val="666666"/>
                </a:solidFill>
                <a:latin typeface="Arial"/>
                <a:ea typeface="Arial"/>
                <a:cs typeface="Arial"/>
              </a:rPr>
              <a:t>yolo26l_default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FA66B-095B-4994-B142-419F57E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3E27E-84BC-420F-B794-099DF520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88E78-8341-494D-8967-BD180A5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384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BEST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C76E3-7274-4DB7-B8B9-588CEEBC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47.0%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A2FDE-20E9-42D8-9D79-23960C5C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65">
                <a:solidFill>
                  <a:srgbClr val="666666"/>
                </a:solidFill>
                <a:latin typeface="Arial"/>
                <a:ea typeface="Arial"/>
                <a:cs typeface="Arial"/>
              </a:rPr>
              <a:t>yolo11n_default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7D823-2F8F-4A14-8BBA-781F9230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6666"/>
                </a:solidFill>
                <a:latin typeface="Arial"/>
                <a:ea typeface="Arial"/>
                <a:cs typeface="Arial"/>
              </a:rPr>
              <a:t>The best overall run is precision-heavy: it reaches 77.2% precision but only 41.9% recall at its best mAP50-95 epoch.</a:t>
            </a:r>
          </a:p>
        </p:txBody>
      </p:sp>
    </p:spTree>
    <p:extLst>
      <p:ext uri="{BB962C8B-B14F-4D97-AF65-F5344CB8AC3E}">
        <p14:creationId xmlns:p14="http://schemas.microsoft.com/office/powerpoint/2010/main" val="9728784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209F74-FB50-40BF-BA07-ADE6E6F4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" y="445008"/>
            <a:ext cx="852058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Strict mAP Separates the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002FC-F8C5-4239-A11E-B2112AB4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1000125"/>
            <a:ext cx="82439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666666"/>
                </a:solidFill>
                <a:latin typeface="Arial"/>
                <a:ea typeface="Arial"/>
                <a:cs typeface="Arial"/>
              </a:rPr>
              <a:t>mAP50 is the looser IoU metric; mAP50-95 is stricter and better reflects localization quality.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49961" y="142875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f4dc4bfab74d7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B1D73-3620-44A5-A013-C67E4338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04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Gap to strict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B59A2-7490-410C-82BC-B46E2FE3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4785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yolo26l_default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D5DAA-777B-4D49-AEEA-103B8068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2882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66666"/>
                </a:solidFill>
                <a:latin typeface="Arial"/>
                <a:ea typeface="Arial"/>
                <a:cs typeface="Arial"/>
              </a:rPr>
              <a:t>20.6%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70B65-C9D2-4E2E-91A7-FA30D03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9552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yolo11n_default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0E8B2-5A48-4A03-B74B-C628F8F2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765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66666"/>
                </a:solidFill>
                <a:latin typeface="Arial"/>
                <a:ea typeface="Arial"/>
                <a:cs typeface="Arial"/>
              </a:rPr>
              <a:t>18.5%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A047C-D0A9-4C07-8C1B-458EF23C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yolo26n_default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2B608-44EC-4F84-9D39-CEF3D82D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241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66666"/>
                </a:solidFill>
                <a:latin typeface="Arial"/>
                <a:ea typeface="Arial"/>
                <a:cs typeface="Arial"/>
              </a:rPr>
              <a:t>19.5%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9481C-9108-48C7-869D-C4A609CE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908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yolo26n_p2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F1FC8-FE92-41CF-9C13-A02740F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7185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66666"/>
                </a:solidFill>
                <a:latin typeface="Arial"/>
                <a:ea typeface="Arial"/>
                <a:cs typeface="Arial"/>
              </a:rPr>
              <a:t>21.8%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668AB-CE05-4F33-BCFE-D8ED53F8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yolo26n_p2_cbam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120DD-76F3-4DD6-A7E0-7D4A14AB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1952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66666"/>
                </a:solidFill>
                <a:latin typeface="Arial"/>
                <a:ea typeface="Arial"/>
                <a:cs typeface="Arial"/>
              </a:rPr>
              <a:t>17.9% gap</a:t>
            </a:r>
          </a:p>
        </p:txBody>
      </p:sp>
    </p:spTree>
    <p:extLst>
      <p:ext uri="{BB962C8B-B14F-4D97-AF65-F5344CB8AC3E}">
        <p14:creationId xmlns:p14="http://schemas.microsoft.com/office/powerpoint/2010/main" val="17047563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1F48C8-17E5-4B89-B3C3-BD63131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" y="445008"/>
            <a:ext cx="852058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 Losses Are Similar Across Nano Variants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99DC1-8952-407B-B300-838CE917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1000125"/>
            <a:ext cx="82439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666666"/>
                </a:solidFill>
                <a:latin typeface="Arial"/>
                <a:ea typeface="Arial"/>
                <a:cs typeface="Arial"/>
              </a:rPr>
              <a:t>Box and class losses are shown from each run's best mAP50-95 epoch; lower is better.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449961" y="1428750"/>
          <a:ext xmlns:a="http://schemas.openxmlformats.org/drawingml/2006/main" cx="5715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51113d0ba84b4f"/>
          </a:graphicData>
        </a:graphic>
      </p:graphicFrame>
      <p:graphicFrame>
        <p:nvGraphicFramePr>
          <p:cNvPr id="9" name=""/>
          <p:cNvGraphicFramePr/>
          <p:nvPr/>
        </p:nvGraphicFramePr>
        <p:xfrm>
          <a:off xmlns:a="http://schemas.openxmlformats.org/drawingml/2006/main" x="6572250" y="1504950"/>
          <a:ext xmlns:a="http://schemas.openxmlformats.org/drawingml/2006/main" cx="20955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04950"/>
                <a:gridCol w="590550"/>
              </a:tblGrid>
              <a:tr h="297656"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 DFL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yolo26n_default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0.0103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yolo26n_p2_cbam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0.0103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yolo26n_p2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0.0103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yolo26l_default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0.0104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yolo26l_p2_cbam-2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0.0107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yolo26n_cbam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0.0110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yolo11n_default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1.3562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FD59B-DA92-4B49-AABA-A7D836BD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6666"/>
                </a:solidFill>
                <a:latin typeface="Arial"/>
                <a:ea typeface="Arial"/>
                <a:cs typeface="Arial"/>
              </a:rPr>
              <a:t>DFL scale differs strongly between these logs, so it is listed separately instead of mixed into the main chart.</a:t>
            </a:r>
          </a:p>
        </p:txBody>
      </p:sp>
    </p:spTree>
    <p:extLst>
      <p:ext uri="{BB962C8B-B14F-4D97-AF65-F5344CB8AC3E}">
        <p14:creationId xmlns:p14="http://schemas.microsoft.com/office/powerpoint/2010/main" val="17053190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FFF5E3-4BD3-4C09-BF55-E47B9A0C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" y="445008"/>
            <a:ext cx="852058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YOLO26l Peaks Earliest and Highest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9D54A-E1C0-4A5C-9439-8E233CF8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1000125"/>
            <a:ext cx="82439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666666"/>
                </a:solidFill>
                <a:latin typeface="Arial"/>
                <a:ea typeface="Arial"/>
                <a:cs typeface="Arial"/>
              </a:rPr>
              <a:t>mAP50-95 trajectories sampled every 10 epochs show when each configuration peaked.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49961" y="1285875"/>
          <a:ext xmlns:a="http://schemas.openxmlformats.org/drawingml/2006/main" cx="5667375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a40eab2cd040b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4D4A7-496C-4AC2-8B0C-0E82101D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62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Peaks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92557-2EB9-40B9-8EA3-08EBE9D4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28BE4-FB55-4146-BC79-5FE3EC8F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145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33333"/>
                </a:solidFill>
                <a:latin typeface="Arial"/>
                <a:ea typeface="Arial"/>
                <a:cs typeface="Arial"/>
              </a:rPr>
              <a:t>yolo26l_default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4D9A7-1833-4B77-8533-DFB0AB84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66666"/>
                </a:solidFill>
                <a:latin typeface="Arial"/>
                <a:ea typeface="Arial"/>
                <a:cs typeface="Arial"/>
              </a:rPr>
              <a:t>31.8% at epoch 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71681-D918-4F70-BD8C-567BAB9A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9487A-DE19-4910-A851-14B1EB48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yolo11n_default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6F8AE-D3DA-4490-854B-EDB2190D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66666"/>
                </a:solidFill>
                <a:latin typeface="Arial"/>
                <a:ea typeface="Arial"/>
                <a:cs typeface="Arial"/>
              </a:rPr>
              <a:t>29.5% at epoch 73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EC787-28DD-450B-A099-BE717F6A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67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DA0BC-53EB-4E07-B44C-907D05F4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28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yolo26n_default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6352B-6D5B-4EF0-B973-F04537FD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0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66666"/>
                </a:solidFill>
                <a:latin typeface="Arial"/>
                <a:ea typeface="Arial"/>
                <a:cs typeface="Arial"/>
              </a:rPr>
              <a:t>27.7% at epoch 51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FE908-C209-4373-B1FE-1128DB9F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6B3BE-8435-45EC-8D4D-F78DA28F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yolo26n_p2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45B11-954F-4EBD-B0DF-589A7B9E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575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66666"/>
                </a:solidFill>
                <a:latin typeface="Arial"/>
                <a:ea typeface="Arial"/>
                <a:cs typeface="Arial"/>
              </a:rPr>
              <a:t>27.6% at epoch 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A5324-7D82-4C85-8827-81D10990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4E352-0993-4DD9-B843-5DB9C997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yolo26n_p2_cbam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21D1C-E87C-49D8-B3A9-B1234AF2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66666"/>
                </a:solidFill>
                <a:latin typeface="Arial"/>
                <a:ea typeface="Arial"/>
                <a:cs typeface="Arial"/>
              </a:rPr>
              <a:t>26.6% at epoch 68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1D784-4817-42B0-92D7-320BA617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4667250"/>
            <a:ext cx="82439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98CE3-8799-4934-816A-9D8632BB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4762500"/>
            <a:ext cx="824398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13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Interpretation: larger variants improve peak accuracy here, while P2/CBAM variants do not beat the default baselines in these requested runs.</a:t>
            </a:r>
          </a:p>
        </p:txBody>
      </p:sp>
    </p:spTree>
    <p:extLst>
      <p:ext uri="{BB962C8B-B14F-4D97-AF65-F5344CB8AC3E}">
        <p14:creationId xmlns:p14="http://schemas.microsoft.com/office/powerpoint/2010/main" val="18014161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8C22D-1CCE-4333-859F-7673EDF8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" y="445008"/>
            <a:ext cx="852058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YOLO11n Is the Fastest Complete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D654D-B66B-4618-9761-3B541CAE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1000125"/>
            <a:ext cx="82439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666666"/>
                </a:solidFill>
                <a:latin typeface="Arial"/>
                <a:ea typeface="Arial"/>
                <a:cs typeface="Arial"/>
              </a:rPr>
              <a:t>Elapsed training time is taken from the final time value in each results.csv.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449961" y="1428750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c90ab660e14f92"/>
          </a:graphicData>
        </a:graphic>
      </p:graphicFrame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0" y="1504950"/>
          <a:ext xmlns:a="http://schemas.openxmlformats.org/drawingml/2006/main" cx="238125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95450"/>
                <a:gridCol w="685800"/>
              </a:tblGrid>
              <a:tr h="297656"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mAP50-95 / h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yolo11n_default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0.097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yolo26n_cbam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yolo26n_default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0.070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yolo26n_p2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yolo26n_p2_cbam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0.048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yolo26l_p2_cbam-2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7656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yolo26l_default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0.029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5D2D4-F332-4BE8-8070-C5D24D5C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6666"/>
                </a:solidFill>
                <a:latin typeface="Arial"/>
                <a:ea typeface="Arial"/>
                <a:cs typeface="Arial"/>
              </a:rPr>
              <a:t>YOLO11n default gives the best accuracy-per-hour tradeoff in these completed logs.</a:t>
            </a:r>
          </a:p>
        </p:txBody>
      </p:sp>
    </p:spTree>
    <p:extLst>
      <p:ext uri="{BB962C8B-B14F-4D97-AF65-F5344CB8AC3E}">
        <p14:creationId xmlns:p14="http://schemas.microsoft.com/office/powerpoint/2010/main" val="6338714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429704-A68D-486B-8066-E7F15E7A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" y="445008"/>
            <a:ext cx="852058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Size vs Efficiency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4F82C-6B72-4B82-92DA-CA8BDDA0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1000125"/>
            <a:ext cx="824398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666666"/>
                </a:solidFill>
                <a:latin typeface="Arial"/>
                <a:ea typeface="Arial"/>
                <a:cs typeface="Arial"/>
              </a:rPr>
              <a:t>Parameter counts and GFLOPs come from W&amp;B model summaries; efficiency uses best mAP50-95 per million parameters.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449961" y="1428750"/>
          <a:ext xmlns:a="http://schemas.openxmlformats.org/drawingml/2006/main" cx="4762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4aecaebd534309"/>
          </a:graphicData>
        </a:graphic>
      </p:graphicFrame>
      <p:graphicFrame>
        <p:nvGraphicFramePr>
          <p:cNvPr id="10" name=""/>
          <p:cNvGraphicFramePr/>
          <p:nvPr/>
        </p:nvGraphicFramePr>
        <p:xfrm>
          <a:off xmlns:a="http://schemas.openxmlformats.org/drawingml/2006/main" x="5619750" y="1333500"/>
          <a:ext xmlns:a="http://schemas.openxmlformats.org/drawingml/2006/main" cx="3048000" cy="3028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00200"/>
                <a:gridCol w="552450"/>
                <a:gridCol w="514350"/>
                <a:gridCol w="476250"/>
              </a:tblGrid>
              <a:tr h="378619"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GFLOPs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mAP/M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yolo11n_default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2.59M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6.45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0.114</a:t>
                      </a:r>
                    </a:p>
                  </a:txBody>
                  <a:tcPr marL="91440" marR="91440" marT="45720" marB="45720">
                    <a:solidFill>
                      <a:srgbClr val="EAF4EE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yolo26n_default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2.51M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5.79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0.111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yolo26n_p2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2.52M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7.53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0.110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yolo26n_p2_cbam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2.52M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7.54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0.106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yolo26l_p2_cbam-2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2.52M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7.54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0.098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yolo26n_cbam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2.57M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5.80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yolo26l_default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26.2M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93.2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23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</a:rPr>
                        <a:t>0.012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A33D5-1C1B-48C3-AF5B-5EA799A4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61" y="4438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070B3-1662-4951-972F-82E728F5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481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40">
                <a:solidFill>
                  <a:srgbClr val="666666"/>
                </a:solidFill>
                <a:latin typeface="Arial"/>
                <a:ea typeface="Arial"/>
                <a:cs typeface="Arial"/>
              </a:rPr>
              <a:t>YOLO26l default gets the best absolute mAP but is about 10x larger than the nano-scale runs. YOLO11n default is the best efficiency point by mAP50-95 per million parameters.</a:t>
            </a:r>
          </a:p>
        </p:txBody>
      </p:sp>
    </p:spTree>
    <p:extLst>
      <p:ext uri="{BB962C8B-B14F-4D97-AF65-F5344CB8AC3E}">
        <p14:creationId xmlns:p14="http://schemas.microsoft.com/office/powerpoint/2010/main" val="122665619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2026-06-17T22:14:39.0990000Z</dcterms:created>
  <dcterms:modified xsi:type="dcterms:W3CDTF">2026-06-17T22:14:39.1000000Z</dcterms:modified>
</coreProperties>
</file>